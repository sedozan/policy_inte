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got us in the room and the partners were excited. This deck is the honest account of what it took to turn that controlled demo into something we can point at production claims and defend. The through-line: a demo proves the idea; the MVP makes it correct, defensible, and scalable.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it: "A demo answers one question — can this work? A system has to answer three — is it correct, can we defend it, will it scale?" These three words are the spine of the rest of the deck. Say the audience should hold them in mind: every change maps to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demo was scoped by a hand-picked code list, which is fine for a controlled demo and useless for a real system. Now the scope comes from the claims themselves. Land it: "We stopped choosing what to look at and let the money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unglamorous but they are the difference between a tool investigators trust and one they learn to ignore. Land it: "Correctness is not a feature here — it is the product." Don't read all four; point at the grid and say "four separate ways the PoC was quietly wrong, all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 it shows the team we validate assumptions against data. We assumed claim form would tell practitioner / outpatient / DME apart; the data said all three sit on form A. Land it: "The fix wasn't a better mapping — the field just doesn't carry that information, and we only knew because we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rule now answers "which rule are you, and where did you come from?" — down to the page and the exact document version. Land it: "If an auditor points at any flag, we can put the sentence from the manual on the screen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for a compliance audience. The lifecycle is the whole point: nothing fires until a human approves it, and the approval is on the record. Land it with the quoted hostile question and the one-word answer: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scale story and the biggest single build. The key reassurance for a skeptical audience: using an LLM does not mean trusting an LLM. Every proposal is mechanically checked against the source document and then approved by a person. Land it: "The model proposes, the document verifies, a human approves — then it compiles."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simulated the last mile; the MVP actually runs detectors and records whether they fired. The dollar-weighted gap is the OIG story made quantitative. Land it: "We can now show a number,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you asked to add. The message to leadership: the month didn't just produce features, it produced a foundation — so the pace goes up from here, not down. Land it: "We paid down the demo's shortcuts so the next 27 chapters don't cost what the first two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Disclosing scope proactively is our credibility strategy — say this before anyone probes for it. Nothing here is a weakness; it's an honest map of where the line is today and where it moves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 honest sentence. The PoC answered "can we?" The MVP answered "is it correct, can we defend it, will it scale?" — three separate hard problems, and each one is a slide you just saw. Invite the correctness, governance, and scale questions; we have real answers to all three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5FB8A6"/>
                </a:solidFill>
                <a:latin typeface="JetBrains Mono" pitchFamily="34" charset="0"/>
                <a:ea typeface="JetBrains Mono" pitchFamily="34" charset="-122"/>
                <a:cs typeface="JetBrains Mono" pitchFamily="34" charset="-120"/>
              </a:rPr>
              <a:t>POLICY INTELLIGENCE ENGINE · SEDO</a:t>
            </a:r>
            <a:endParaRPr lang="en-US" sz="1400" dirty="0"/>
          </a:p>
        </p:txBody>
      </p:sp>
      <p:sp>
        <p:nvSpPr>
          <p:cNvPr id="3" name="Text 1"/>
          <p:cNvSpPr/>
          <p:nvPr/>
        </p:nvSpPr>
        <p:spPr>
          <a:xfrm>
            <a:off x="812800" y="2532459"/>
            <a:ext cx="10883392" cy="932160"/>
          </a:xfrm>
          <a:prstGeom prst="rect">
            <a:avLst/>
          </a:prstGeom>
          <a:noFill/>
          <a:ln/>
        </p:spPr>
        <p:txBody>
          <a:bodyPr wrap="square" lIns="0" tIns="0" rIns="0" bIns="0" rtlCol="0" anchor="t">
            <a:normAutofit/>
          </a:bodyPr>
          <a:lstStyle/>
          <a:p>
            <a:pPr algn="l" indent="0" marL="0">
              <a:lnSpc>
                <a:spcPts val="7140"/>
              </a:lnSpc>
              <a:buNone/>
            </a:pPr>
            <a:r>
              <a:rPr lang="en-US" sz="7000" b="1" dirty="0">
                <a:solidFill>
                  <a:srgbClr val="F5F6F4"/>
                </a:solidFill>
                <a:latin typeface="IBM Plex Sans" pitchFamily="34" charset="0"/>
                <a:ea typeface="IBM Plex Sans" pitchFamily="34" charset="-122"/>
                <a:cs typeface="IBM Plex Sans" pitchFamily="34" charset="-120"/>
              </a:rPr>
              <a:t>PoC → MVP</a:t>
            </a:r>
            <a:endParaRPr lang="en-US" sz="7000" dirty="0"/>
          </a:p>
        </p:txBody>
      </p:sp>
      <p:sp>
        <p:nvSpPr>
          <p:cNvPr id="4" name="Text 2"/>
          <p:cNvSpPr/>
          <p:nvPr/>
        </p:nvSpPr>
        <p:spPr>
          <a:xfrm>
            <a:off x="812800" y="3617020"/>
            <a:ext cx="9483725"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EBACB"/>
                </a:solidFill>
                <a:latin typeface="IBM Plex Sans" pitchFamily="34" charset="0"/>
                <a:ea typeface="IBM Plex Sans" pitchFamily="34" charset="-122"/>
                <a:cs typeface="IBM Plex Sans" pitchFamily="34" charset="-120"/>
              </a:rPr>
              <a:t>What we changed, and why it took the month: making AHCCCS policy computable — correctly, defensibly, and at scale.</a:t>
            </a:r>
            <a:endParaRPr lang="en-US" sz="2200" dirty="0"/>
          </a:p>
        </p:txBody>
      </p:sp>
      <p:sp>
        <p:nvSpPr>
          <p:cNvPr id="5" name="Text 3"/>
          <p:cNvSpPr/>
          <p:nvPr/>
        </p:nvSpPr>
        <p:spPr>
          <a:xfrm>
            <a:off x="812800" y="58141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595AB"/>
                </a:solidFill>
                <a:latin typeface="JetBrains Mono" pitchFamily="34" charset="0"/>
                <a:ea typeface="JetBrains Mono" pitchFamily="34" charset="-122"/>
                <a:cs typeface="JetBrains Mono" pitchFamily="34" charset="-120"/>
              </a:rPr>
              <a:t>September 2026 · Internal engineering review</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2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5FB8A6"/>
                </a:solidFill>
                <a:latin typeface="JetBrains Mono" pitchFamily="34" charset="0"/>
                <a:ea typeface="JetBrains Mono" pitchFamily="34" charset="-122"/>
                <a:cs typeface="JetBrains Mono" pitchFamily="34" charset="-120"/>
              </a:rPr>
              <a:t>THE BAR MOVED</a:t>
            </a:r>
            <a:endParaRPr lang="en-US" sz="1300" dirty="0"/>
          </a:p>
        </p:txBody>
      </p:sp>
      <p:sp>
        <p:nvSpPr>
          <p:cNvPr id="3" name="Text 1"/>
          <p:cNvSpPr/>
          <p:nvPr/>
        </p:nvSpPr>
        <p:spPr>
          <a:xfrm>
            <a:off x="812800" y="1770360"/>
            <a:ext cx="10203180" cy="1106289"/>
          </a:xfrm>
          <a:prstGeom prst="rect">
            <a:avLst/>
          </a:prstGeom>
          <a:noFill/>
          <a:ln/>
        </p:spPr>
        <p:txBody>
          <a:bodyPr wrap="square" lIns="0" tIns="0" rIns="0" bIns="0" rtlCol="0" anchor="t">
            <a:normAutofit/>
          </a:bodyPr>
          <a:lstStyle/>
          <a:p>
            <a:pPr algn="l" indent="0" marL="0">
              <a:lnSpc>
                <a:spcPts val="4256"/>
              </a:lnSpc>
              <a:buNone/>
            </a:pPr>
            <a:r>
              <a:rPr lang="en-US" sz="3800" b="1" dirty="0">
                <a:solidFill>
                  <a:srgbClr val="F5F6F4"/>
                </a:solidFill>
                <a:latin typeface="IBM Plex Sans" pitchFamily="34" charset="0"/>
                <a:ea typeface="IBM Plex Sans" pitchFamily="34" charset="-122"/>
                <a:cs typeface="IBM Plex Sans" pitchFamily="34" charset="-120"/>
              </a:rPr>
              <a:t>The PoC proved it </a:t>
            </a:r>
            <a:r>
              <a:rPr lang="en-US" sz="3800" b="1" i="1" dirty="0">
                <a:solidFill>
                  <a:srgbClr val="F5F6F4"/>
                </a:solidFill>
                <a:latin typeface="IBM Plex Sans" pitchFamily="34" charset="0"/>
                <a:ea typeface="IBM Plex Sans" pitchFamily="34" charset="-122"/>
                <a:cs typeface="IBM Plex Sans" pitchFamily="34" charset="-120"/>
              </a:rPr>
              <a:t>could</a:t>
            </a:r>
            <a:r>
              <a:rPr lang="en-US" sz="3800" b="1" dirty="0">
                <a:solidFill>
                  <a:srgbClr val="F5F6F4"/>
                </a:solidFill>
                <a:latin typeface="IBM Plex Sans" pitchFamily="34" charset="0"/>
                <a:ea typeface="IBM Plex Sans" pitchFamily="34" charset="-122"/>
                <a:cs typeface="IBM Plex Sans" pitchFamily="34" charset="-120"/>
              </a:rPr>
              <a:t> work. The MVP makes it real.</a:t>
            </a:r>
            <a:endParaRPr lang="en-US" sz="3800" dirty="0"/>
          </a:p>
        </p:txBody>
      </p:sp>
      <p:sp>
        <p:nvSpPr>
          <p:cNvPr id="4" name="Shape 2"/>
          <p:cNvSpPr/>
          <p:nvPr/>
        </p:nvSpPr>
        <p:spPr>
          <a:xfrm>
            <a:off x="815975" y="3580805"/>
            <a:ext cx="3380284" cy="1485900"/>
          </a:xfrm>
          <a:prstGeom prst="roundRect">
            <a:avLst>
              <a:gd name="adj" fmla="val 6624"/>
            </a:avLst>
          </a:prstGeom>
          <a:solidFill>
            <a:srgbClr val="1B3350"/>
          </a:solidFill>
          <a:ln w="6350">
            <a:solidFill>
              <a:srgbClr val="2E4A6B"/>
            </a:solidFill>
            <a:prstDash val="solid"/>
          </a:ln>
        </p:spPr>
      </p:sp>
      <p:sp>
        <p:nvSpPr>
          <p:cNvPr id="5" name="Text 3"/>
          <p:cNvSpPr/>
          <p:nvPr/>
        </p:nvSpPr>
        <p:spPr>
          <a:xfrm>
            <a:off x="1098550" y="3863380"/>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FB8A6"/>
                </a:solidFill>
                <a:latin typeface="IBM Plex Sans" pitchFamily="34" charset="0"/>
                <a:ea typeface="IBM Plex Sans" pitchFamily="34" charset="-122"/>
                <a:cs typeface="IBM Plex Sans" pitchFamily="34" charset="-120"/>
              </a:rPr>
              <a:t>Correct</a:t>
            </a:r>
            <a:endParaRPr lang="en-US" sz="2000" dirty="0"/>
          </a:p>
        </p:txBody>
      </p:sp>
      <p:sp>
        <p:nvSpPr>
          <p:cNvPr id="6" name="Text 4"/>
          <p:cNvSpPr/>
          <p:nvPr/>
        </p:nvSpPr>
        <p:spPr>
          <a:xfrm>
            <a:off x="1098550" y="4269780"/>
            <a:ext cx="289958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4D0DE"/>
                </a:solidFill>
                <a:latin typeface="IBM Plex Sans" pitchFamily="34" charset="0"/>
                <a:ea typeface="IBM Plex Sans" pitchFamily="34" charset="-122"/>
                <a:cs typeface="IBM Plex Sans" pitchFamily="34" charset="-120"/>
              </a:rPr>
              <a:t>Findings are real, not demo artifacts.</a:t>
            </a:r>
            <a:endParaRPr lang="en-US" sz="1500" dirty="0"/>
          </a:p>
        </p:txBody>
      </p:sp>
      <p:sp>
        <p:nvSpPr>
          <p:cNvPr id="7" name="Shape 5"/>
          <p:cNvSpPr/>
          <p:nvPr/>
        </p:nvSpPr>
        <p:spPr>
          <a:xfrm>
            <a:off x="4405809" y="3580805"/>
            <a:ext cx="3380383" cy="1485900"/>
          </a:xfrm>
          <a:prstGeom prst="roundRect">
            <a:avLst>
              <a:gd name="adj" fmla="val 6624"/>
            </a:avLst>
          </a:prstGeom>
          <a:solidFill>
            <a:srgbClr val="1B3350"/>
          </a:solidFill>
          <a:ln w="6350">
            <a:solidFill>
              <a:srgbClr val="2E4A6B"/>
            </a:solidFill>
            <a:prstDash val="solid"/>
          </a:ln>
        </p:spPr>
      </p:sp>
      <p:sp>
        <p:nvSpPr>
          <p:cNvPr id="8" name="Text 6"/>
          <p:cNvSpPr/>
          <p:nvPr/>
        </p:nvSpPr>
        <p:spPr>
          <a:xfrm>
            <a:off x="4688384" y="3863380"/>
            <a:ext cx="289969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FB8A6"/>
                </a:solidFill>
                <a:latin typeface="IBM Plex Sans" pitchFamily="34" charset="0"/>
                <a:ea typeface="IBM Plex Sans" pitchFamily="34" charset="-122"/>
                <a:cs typeface="IBM Plex Sans" pitchFamily="34" charset="-120"/>
              </a:rPr>
              <a:t>Defensible</a:t>
            </a:r>
            <a:endParaRPr lang="en-US" sz="2000" dirty="0"/>
          </a:p>
        </p:txBody>
      </p:sp>
      <p:sp>
        <p:nvSpPr>
          <p:cNvPr id="9" name="Text 7"/>
          <p:cNvSpPr/>
          <p:nvPr/>
        </p:nvSpPr>
        <p:spPr>
          <a:xfrm>
            <a:off x="4688384" y="4269780"/>
            <a:ext cx="289969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4D0DE"/>
                </a:solidFill>
                <a:latin typeface="IBM Plex Sans" pitchFamily="34" charset="0"/>
                <a:ea typeface="IBM Plex Sans" pitchFamily="34" charset="-122"/>
                <a:cs typeface="IBM Plex Sans" pitchFamily="34" charset="-120"/>
              </a:rPr>
              <a:t>A named human owns every rule, traceable to its page.</a:t>
            </a:r>
            <a:endParaRPr lang="en-US" sz="1500" dirty="0"/>
          </a:p>
        </p:txBody>
      </p:sp>
      <p:sp>
        <p:nvSpPr>
          <p:cNvPr id="10" name="Shape 8"/>
          <p:cNvSpPr/>
          <p:nvPr/>
        </p:nvSpPr>
        <p:spPr>
          <a:xfrm>
            <a:off x="7995741" y="3580805"/>
            <a:ext cx="3380284" cy="1485900"/>
          </a:xfrm>
          <a:prstGeom prst="roundRect">
            <a:avLst>
              <a:gd name="adj" fmla="val 6624"/>
            </a:avLst>
          </a:prstGeom>
          <a:solidFill>
            <a:srgbClr val="1B3350"/>
          </a:solidFill>
          <a:ln w="6350">
            <a:solidFill>
              <a:srgbClr val="2E4A6B"/>
            </a:solidFill>
            <a:prstDash val="solid"/>
          </a:ln>
        </p:spPr>
      </p:sp>
      <p:sp>
        <p:nvSpPr>
          <p:cNvPr id="11" name="Text 9"/>
          <p:cNvSpPr/>
          <p:nvPr/>
        </p:nvSpPr>
        <p:spPr>
          <a:xfrm>
            <a:off x="8278316" y="3863380"/>
            <a:ext cx="289958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FB8A6"/>
                </a:solidFill>
                <a:latin typeface="IBM Plex Sans" pitchFamily="34" charset="0"/>
                <a:ea typeface="IBM Plex Sans" pitchFamily="34" charset="-122"/>
                <a:cs typeface="IBM Plex Sans" pitchFamily="34" charset="-120"/>
              </a:rPr>
              <a:t>Scalable</a:t>
            </a:r>
            <a:endParaRPr lang="en-US" sz="2000" dirty="0"/>
          </a:p>
        </p:txBody>
      </p:sp>
      <p:sp>
        <p:nvSpPr>
          <p:cNvPr id="12" name="Text 10"/>
          <p:cNvSpPr/>
          <p:nvPr/>
        </p:nvSpPr>
        <p:spPr>
          <a:xfrm>
            <a:off x="8278316" y="4269780"/>
            <a:ext cx="289958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4D0DE"/>
                </a:solidFill>
                <a:latin typeface="IBM Plex Sans" pitchFamily="34" charset="0"/>
                <a:ea typeface="IBM Plex Sans" pitchFamily="34" charset="-122"/>
                <a:cs typeface="IBM Plex Sans" pitchFamily="34" charset="-120"/>
              </a:rPr>
              <a:t>29 chapters by machine, not two by hand.</a:t>
            </a:r>
            <a:endParaRPr lang="en-US" sz="1500" dirty="0"/>
          </a:p>
        </p:txBody>
      </p:sp>
      <p:sp>
        <p:nvSpPr>
          <p:cNvPr id="13" name="Text 11"/>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595AB"/>
                </a:solidFill>
                <a:latin typeface="IBM Plex Sans" pitchFamily="34" charset="0"/>
                <a:ea typeface="IBM Plex Sans" pitchFamily="34" charset="-122"/>
                <a:cs typeface="IBM Plex Sans" pitchFamily="34" charset="-120"/>
              </a:rPr>
              <a:t>Everything that follows is one of these three — plus the foundation under them.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CORRECT · 01 — SCOPE</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Scoped to what AHCCCS actually pays</a:t>
            </a:r>
            <a:endParaRPr lang="en-US" sz="3300" dirty="0"/>
          </a:p>
        </p:txBody>
      </p:sp>
      <p:sp>
        <p:nvSpPr>
          <p:cNvPr id="4" name="Shape 2"/>
          <p:cNvSpPr/>
          <p:nvPr/>
        </p:nvSpPr>
        <p:spPr>
          <a:xfrm>
            <a:off x="815975" y="2578001"/>
            <a:ext cx="5149850" cy="1732657"/>
          </a:xfrm>
          <a:prstGeom prst="roundRect">
            <a:avLst>
              <a:gd name="adj" fmla="val 5681"/>
            </a:avLst>
          </a:prstGeom>
          <a:solidFill>
            <a:srgbClr val="FFFFFF"/>
          </a:solidFill>
          <a:ln w="6350">
            <a:solidFill>
              <a:srgbClr val="E3E6E4"/>
            </a:solidFill>
            <a:prstDash val="solid"/>
          </a:ln>
        </p:spPr>
      </p:sp>
      <p:sp>
        <p:nvSpPr>
          <p:cNvPr id="5" name="Text 3"/>
          <p:cNvSpPr/>
          <p:nvPr/>
        </p:nvSpPr>
        <p:spPr>
          <a:xfrm>
            <a:off x="1098550" y="2860576"/>
            <a:ext cx="4722241" cy="229791"/>
          </a:xfrm>
          <a:prstGeom prst="rect">
            <a:avLst/>
          </a:prstGeom>
          <a:noFill/>
          <a:ln/>
        </p:spPr>
        <p:txBody>
          <a:bodyPr wrap="square" lIns="0" tIns="0" rIns="0" bIns="0" rtlCol="0" anchor="t">
            <a:normAutofit/>
          </a:bodyPr>
          <a:lstStyle/>
          <a:p>
            <a:pPr algn="l" indent="0" marL="0">
              <a:lnSpc>
                <a:spcPts val="1610"/>
              </a:lnSpc>
              <a:buNone/>
            </a:pPr>
            <a:r>
              <a:rPr lang="en-US" sz="1150" spc="50" kern="0" dirty="0">
                <a:solidFill>
                  <a:srgbClr val="B4552E"/>
                </a:solidFill>
                <a:latin typeface="JetBrains Mono" pitchFamily="34" charset="0"/>
                <a:ea typeface="JetBrains Mono" pitchFamily="34" charset="-122"/>
                <a:cs typeface="JetBrains Mono" pitchFamily="34" charset="-120"/>
              </a:rPr>
              <a:t>WAS</a:t>
            </a:r>
            <a:endParaRPr lang="en-US" sz="1150" dirty="0"/>
          </a:p>
        </p:txBody>
      </p:sp>
      <p:sp>
        <p:nvSpPr>
          <p:cNvPr id="6" name="Text 4"/>
          <p:cNvSpPr/>
          <p:nvPr/>
        </p:nvSpPr>
        <p:spPr>
          <a:xfrm>
            <a:off x="1098550" y="3153866"/>
            <a:ext cx="4722241" cy="608211"/>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55627A"/>
                </a:solidFill>
                <a:latin typeface="IBM Plex Sans" pitchFamily="34" charset="0"/>
                <a:ea typeface="IBM Plex Sans" pitchFamily="34" charset="-122"/>
                <a:cs typeface="IBM Plex Sans" pitchFamily="34" charset="-120"/>
              </a:rPr>
              <a:t>A hardcoded list of ~23 codes. Demo queries capped at 5 rows.</a:t>
            </a:r>
            <a:endParaRPr lang="en-US" sz="1700" dirty="0"/>
          </a:p>
        </p:txBody>
      </p:sp>
      <p:sp>
        <p:nvSpPr>
          <p:cNvPr id="7" name="Shape 5"/>
          <p:cNvSpPr/>
          <p:nvPr/>
        </p:nvSpPr>
        <p:spPr>
          <a:xfrm>
            <a:off x="6226175" y="2578001"/>
            <a:ext cx="5149850" cy="1732657"/>
          </a:xfrm>
          <a:prstGeom prst="roundRect">
            <a:avLst>
              <a:gd name="adj" fmla="val 5681"/>
            </a:avLst>
          </a:prstGeom>
          <a:solidFill>
            <a:srgbClr val="FFFFFF"/>
          </a:solidFill>
          <a:ln w="6350">
            <a:solidFill>
              <a:srgbClr val="E3E6E4"/>
            </a:solidFill>
            <a:prstDash val="solid"/>
          </a:ln>
        </p:spPr>
      </p:sp>
      <p:sp>
        <p:nvSpPr>
          <p:cNvPr id="8" name="Text 6"/>
          <p:cNvSpPr/>
          <p:nvPr/>
        </p:nvSpPr>
        <p:spPr>
          <a:xfrm>
            <a:off x="6508750" y="2860576"/>
            <a:ext cx="4722241" cy="229791"/>
          </a:xfrm>
          <a:prstGeom prst="rect">
            <a:avLst/>
          </a:prstGeom>
          <a:noFill/>
          <a:ln/>
        </p:spPr>
        <p:txBody>
          <a:bodyPr wrap="square" lIns="0" tIns="0" rIns="0" bIns="0" rtlCol="0" anchor="t">
            <a:normAutofit/>
          </a:bodyPr>
          <a:lstStyle/>
          <a:p>
            <a:pPr algn="l" indent="0" marL="0">
              <a:lnSpc>
                <a:spcPts val="1610"/>
              </a:lnSpc>
              <a:buNone/>
            </a:pPr>
            <a:r>
              <a:rPr lang="en-US" sz="1150" spc="50" kern="0" dirty="0">
                <a:solidFill>
                  <a:srgbClr val="1F7A6B"/>
                </a:solidFill>
                <a:latin typeface="JetBrains Mono" pitchFamily="34" charset="0"/>
                <a:ea typeface="JetBrains Mono" pitchFamily="34" charset="-122"/>
                <a:cs typeface="JetBrains Mono" pitchFamily="34" charset="-120"/>
              </a:rPr>
              <a:t>NOW</a:t>
            </a:r>
            <a:endParaRPr lang="en-US" sz="1150" dirty="0"/>
          </a:p>
        </p:txBody>
      </p:sp>
      <p:sp>
        <p:nvSpPr>
          <p:cNvPr id="9" name="Text 7"/>
          <p:cNvSpPr/>
          <p:nvPr/>
        </p:nvSpPr>
        <p:spPr>
          <a:xfrm>
            <a:off x="6508750" y="3153866"/>
            <a:ext cx="4722241" cy="899616"/>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4273D"/>
                </a:solidFill>
                <a:latin typeface="IBM Plex Sans" pitchFamily="34" charset="0"/>
                <a:ea typeface="IBM Plex Sans" pitchFamily="34" charset="-122"/>
                <a:cs typeface="IBM Plex Sans" pitchFamily="34" charset="-120"/>
              </a:rPr>
              <a:t>The knowledge base scopes itself to every code actually paid across ~17M claim lines. Rules exist only where they can fire.</a:t>
            </a:r>
            <a:endParaRPr lang="en-US" sz="1700" dirty="0"/>
          </a:p>
        </p:txBody>
      </p:sp>
      <p:sp>
        <p:nvSpPr>
          <p:cNvPr id="10" name="Shape 8"/>
          <p:cNvSpPr/>
          <p:nvPr/>
        </p:nvSpPr>
        <p:spPr>
          <a:xfrm>
            <a:off x="831850" y="5278239"/>
            <a:ext cx="0" cy="627261"/>
          </a:xfrm>
          <a:prstGeom prst="line">
            <a:avLst/>
          </a:prstGeom>
          <a:noFill/>
          <a:ln w="38100">
            <a:solidFill>
              <a:srgbClr val="1F7A6B"/>
            </a:solidFill>
            <a:prstDash val="solid"/>
          </a:ln>
        </p:spPr>
      </p:sp>
      <p:sp>
        <p:nvSpPr>
          <p:cNvPr id="11" name="Text 9"/>
          <p:cNvSpPr/>
          <p:nvPr/>
        </p:nvSpPr>
        <p:spPr>
          <a:xfrm>
            <a:off x="1054100" y="5316339"/>
            <a:ext cx="10634853" cy="576461"/>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14273D"/>
                </a:solidFill>
                <a:latin typeface="IBM Plex Sans" pitchFamily="34" charset="0"/>
                <a:ea typeface="IBM Plex Sans" pitchFamily="34" charset="-122"/>
                <a:cs typeface="IBM Plex Sans" pitchFamily="34" charset="-120"/>
              </a:rPr>
              <a:t>Why it matters:</a:t>
            </a:r>
            <a:r>
              <a:rPr lang="en-US" sz="1550" dirty="0">
                <a:solidFill>
                  <a:srgbClr val="14273D"/>
                </a:solidFill>
                <a:latin typeface="IBM Plex Sans" pitchFamily="34" charset="0"/>
                <a:ea typeface="IBM Plex Sans" pitchFamily="34" charset="-122"/>
                <a:cs typeface="IBM Plex Sans" pitchFamily="34" charset="-120"/>
              </a:rPr>
              <a:t> a rule for a code AHCCCS never pays is noise — it inflates the count and can never produce a finding. This is what makes the coverage-gap question answerable at all.</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CORRECT · 02 — FEDERAL FLOOR (NCCI)</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Four correctness fixes to the federal edits</a:t>
            </a:r>
            <a:endParaRPr lang="en-US" sz="3300" dirty="0"/>
          </a:p>
        </p:txBody>
      </p:sp>
      <p:sp>
        <p:nvSpPr>
          <p:cNvPr id="4" name="Shape 2"/>
          <p:cNvSpPr/>
          <p:nvPr/>
        </p:nvSpPr>
        <p:spPr>
          <a:xfrm>
            <a:off x="815975" y="1990229"/>
            <a:ext cx="5187950" cy="1477665"/>
          </a:xfrm>
          <a:prstGeom prst="roundRect">
            <a:avLst>
              <a:gd name="adj" fmla="val 6661"/>
            </a:avLst>
          </a:prstGeom>
          <a:solidFill>
            <a:srgbClr val="FFFFFF"/>
          </a:solidFill>
          <a:ln w="6350">
            <a:solidFill>
              <a:srgbClr val="E3E6E4"/>
            </a:solidFill>
            <a:prstDash val="solid"/>
          </a:ln>
        </p:spPr>
      </p:sp>
      <p:sp>
        <p:nvSpPr>
          <p:cNvPr id="5" name="Text 3"/>
          <p:cNvSpPr/>
          <p:nvPr/>
        </p:nvSpPr>
        <p:spPr>
          <a:xfrm>
            <a:off x="1047750" y="2222004"/>
            <a:ext cx="486613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Time windows</a:t>
            </a:r>
            <a:endParaRPr lang="en-US" sz="1600" dirty="0"/>
          </a:p>
        </p:txBody>
      </p:sp>
      <p:sp>
        <p:nvSpPr>
          <p:cNvPr id="6" name="Text 4"/>
          <p:cNvSpPr/>
          <p:nvPr/>
        </p:nvSpPr>
        <p:spPr>
          <a:xfrm>
            <a:off x="1047750" y="2541984"/>
            <a:ext cx="4866132" cy="719534"/>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5627A"/>
                </a:solidFill>
                <a:latin typeface="IBM Plex Sans" pitchFamily="34" charset="0"/>
                <a:ea typeface="IBM Plex Sans" pitchFamily="34" charset="-122"/>
                <a:cs typeface="IBM Plex Sans" pitchFamily="34" charset="-120"/>
              </a:rPr>
              <a:t>Each edit fires only between its real effective and deletion dates. Before: one hardcoded date, and deleted edits still firing on newer claims.</a:t>
            </a:r>
            <a:endParaRPr lang="en-US" sz="1350" dirty="0"/>
          </a:p>
        </p:txBody>
      </p:sp>
      <p:sp>
        <p:nvSpPr>
          <p:cNvPr id="7" name="Shape 5"/>
          <p:cNvSpPr/>
          <p:nvPr/>
        </p:nvSpPr>
        <p:spPr>
          <a:xfrm>
            <a:off x="6188075" y="1990229"/>
            <a:ext cx="5187950" cy="1477665"/>
          </a:xfrm>
          <a:prstGeom prst="roundRect">
            <a:avLst>
              <a:gd name="adj" fmla="val 6661"/>
            </a:avLst>
          </a:prstGeom>
          <a:solidFill>
            <a:srgbClr val="FFFFFF"/>
          </a:solidFill>
          <a:ln w="6350">
            <a:solidFill>
              <a:srgbClr val="E3E6E4"/>
            </a:solidFill>
            <a:prstDash val="solid"/>
          </a:ln>
        </p:spPr>
      </p:sp>
      <p:sp>
        <p:nvSpPr>
          <p:cNvPr id="8" name="Text 6"/>
          <p:cNvSpPr/>
          <p:nvPr/>
        </p:nvSpPr>
        <p:spPr>
          <a:xfrm>
            <a:off x="6419850" y="2222004"/>
            <a:ext cx="486613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De-duplicated across quarters</a:t>
            </a:r>
            <a:endParaRPr lang="en-US" sz="1600" dirty="0"/>
          </a:p>
        </p:txBody>
      </p:sp>
      <p:sp>
        <p:nvSpPr>
          <p:cNvPr id="9" name="Text 7"/>
          <p:cNvSpPr/>
          <p:nvPr/>
        </p:nvSpPr>
        <p:spPr>
          <a:xfrm>
            <a:off x="6419850" y="2541984"/>
            <a:ext cx="4866132"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5627A"/>
                </a:solidFill>
                <a:latin typeface="IBM Plex Sans" pitchFamily="34" charset="0"/>
                <a:ea typeface="IBM Plex Sans" pitchFamily="34" charset="-122"/>
                <a:cs typeface="IBM Plex Sans" pitchFamily="34" charset="-120"/>
              </a:rPr>
              <a:t>Latest snapshot per edition; unit limits reconstructed quarter-by-quarter and retired when CMS removes them.</a:t>
            </a:r>
            <a:endParaRPr lang="en-US" sz="1350" dirty="0"/>
          </a:p>
        </p:txBody>
      </p:sp>
      <p:sp>
        <p:nvSpPr>
          <p:cNvPr id="10" name="Shape 8"/>
          <p:cNvSpPr/>
          <p:nvPr/>
        </p:nvSpPr>
        <p:spPr>
          <a:xfrm>
            <a:off x="815975" y="3652044"/>
            <a:ext cx="5187950" cy="1246287"/>
          </a:xfrm>
          <a:prstGeom prst="roundRect">
            <a:avLst>
              <a:gd name="adj" fmla="val 7897"/>
            </a:avLst>
          </a:prstGeom>
          <a:solidFill>
            <a:srgbClr val="FFFFFF"/>
          </a:solidFill>
          <a:ln w="6350">
            <a:solidFill>
              <a:srgbClr val="E3E6E4"/>
            </a:solidFill>
            <a:prstDash val="solid"/>
          </a:ln>
        </p:spPr>
      </p:sp>
      <p:sp>
        <p:nvSpPr>
          <p:cNvPr id="11" name="Text 9"/>
          <p:cNvSpPr/>
          <p:nvPr/>
        </p:nvSpPr>
        <p:spPr>
          <a:xfrm>
            <a:off x="1047750" y="3883819"/>
            <a:ext cx="486613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Unit adjudication</a:t>
            </a:r>
            <a:endParaRPr lang="en-US" sz="1600" dirty="0"/>
          </a:p>
        </p:txBody>
      </p:sp>
      <p:sp>
        <p:nvSpPr>
          <p:cNvPr id="12" name="Text 10"/>
          <p:cNvSpPr/>
          <p:nvPr/>
        </p:nvSpPr>
        <p:spPr>
          <a:xfrm>
            <a:off x="1047750" y="4203799"/>
            <a:ext cx="4866132"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5627A"/>
                </a:solidFill>
                <a:latin typeface="IBM Plex Sans" pitchFamily="34" charset="0"/>
                <a:ea typeface="IBM Plex Sans" pitchFamily="34" charset="-122"/>
                <a:cs typeface="IBM Plex Sans" pitchFamily="34" charset="-120"/>
              </a:rPr>
              <a:t>Per-line vs per-day limits handled as distinct checks, the way CMS adjudicates them.</a:t>
            </a:r>
            <a:endParaRPr lang="en-US" sz="1350" dirty="0"/>
          </a:p>
        </p:txBody>
      </p:sp>
      <p:sp>
        <p:nvSpPr>
          <p:cNvPr id="13" name="Shape 11"/>
          <p:cNvSpPr/>
          <p:nvPr/>
        </p:nvSpPr>
        <p:spPr>
          <a:xfrm>
            <a:off x="6188075" y="3652044"/>
            <a:ext cx="5187950" cy="1246287"/>
          </a:xfrm>
          <a:prstGeom prst="roundRect">
            <a:avLst>
              <a:gd name="adj" fmla="val 7897"/>
            </a:avLst>
          </a:prstGeom>
          <a:solidFill>
            <a:srgbClr val="FFFFFF"/>
          </a:solidFill>
          <a:ln w="6350">
            <a:solidFill>
              <a:srgbClr val="E3E6E4"/>
            </a:solidFill>
            <a:prstDash val="solid"/>
          </a:ln>
        </p:spPr>
      </p:sp>
      <p:sp>
        <p:nvSpPr>
          <p:cNvPr id="14" name="Text 12"/>
          <p:cNvSpPr/>
          <p:nvPr/>
        </p:nvSpPr>
        <p:spPr>
          <a:xfrm>
            <a:off x="6419850" y="3883819"/>
            <a:ext cx="486613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Modifier bypass</a:t>
            </a:r>
            <a:endParaRPr lang="en-US" sz="1600" dirty="0"/>
          </a:p>
        </p:txBody>
      </p:sp>
      <p:sp>
        <p:nvSpPr>
          <p:cNvPr id="15" name="Text 13"/>
          <p:cNvSpPr/>
          <p:nvPr/>
        </p:nvSpPr>
        <p:spPr>
          <a:xfrm>
            <a:off x="6419850" y="4203799"/>
            <a:ext cx="4866132"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5627A"/>
                </a:solidFill>
                <a:latin typeface="IBM Plex Sans" pitchFamily="34" charset="0"/>
                <a:ea typeface="IBM Plex Sans" pitchFamily="34" charset="-122"/>
                <a:cs typeface="IBM Plex Sans" pitchFamily="34" charset="-120"/>
              </a:rPr>
              <a:t>Full ~30-modifier NCCI set, applied only where a bypass is allowed. Before: 6 modifiers, applied even where none is.</a:t>
            </a:r>
            <a:endParaRPr lang="en-US" sz="1350" dirty="0"/>
          </a:p>
        </p:txBody>
      </p:sp>
      <p:sp>
        <p:nvSpPr>
          <p:cNvPr id="16" name="Shape 14"/>
          <p:cNvSpPr/>
          <p:nvPr/>
        </p:nvSpPr>
        <p:spPr>
          <a:xfrm>
            <a:off x="831850" y="5278239"/>
            <a:ext cx="0" cy="627261"/>
          </a:xfrm>
          <a:prstGeom prst="line">
            <a:avLst/>
          </a:prstGeom>
          <a:noFill/>
          <a:ln w="38100">
            <a:solidFill>
              <a:srgbClr val="1F7A6B"/>
            </a:solidFill>
            <a:prstDash val="solid"/>
          </a:ln>
        </p:spPr>
      </p:sp>
      <p:sp>
        <p:nvSpPr>
          <p:cNvPr id="17" name="Text 15"/>
          <p:cNvSpPr/>
          <p:nvPr/>
        </p:nvSpPr>
        <p:spPr>
          <a:xfrm>
            <a:off x="1054100" y="5316339"/>
            <a:ext cx="10634853" cy="576461"/>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14273D"/>
                </a:solidFill>
                <a:latin typeface="IBM Plex Sans" pitchFamily="34" charset="0"/>
                <a:ea typeface="IBM Plex Sans" pitchFamily="34" charset="-122"/>
                <a:cs typeface="IBM Plex Sans" pitchFamily="34" charset="-120"/>
              </a:rPr>
              <a:t>Why it matters:</a:t>
            </a:r>
            <a:r>
              <a:rPr lang="en-US" sz="1550" dirty="0">
                <a:solidFill>
                  <a:srgbClr val="14273D"/>
                </a:solidFill>
                <a:latin typeface="IBM Plex Sans" pitchFamily="34" charset="0"/>
                <a:ea typeface="IBM Plex Sans" pitchFamily="34" charset="-122"/>
                <a:cs typeface="IBM Plex Sans" pitchFamily="34" charset="-120"/>
              </a:rPr>
              <a:t> each of these was silently producing wrong flags. In a fraud tool, every false positive burns an investigator's time and the tool's credibility.</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CORRECT · 03 — ROUTING</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We tested an assumption — and it was wrong</a:t>
            </a:r>
            <a:endParaRPr lang="en-US" sz="3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2310904"/>
          <a:ext cx="5137150" cy="2254052"/>
        </p:xfrm>
        <a:graphic>
          <a:graphicData uri="http://schemas.openxmlformats.org/drawingml/2006/table">
            <a:tbl>
              <a:tblPr/>
              <a:tblGrid>
                <a:gridCol w="2260346"/>
                <a:gridCol w="2876804"/>
              </a:tblGrid>
              <a:tr h="499070">
                <a:tc>
                  <a:txBody>
                    <a:bodyPr/>
                    <a:lstStyle/>
                    <a:p>
                      <a:pPr indent="0" marL="0">
                        <a:lnSpc>
                          <a:spcPts val="2030"/>
                        </a:lnSpc>
                        <a:buNone/>
                      </a:pPr>
                      <a:r>
                        <a:rPr lang="en-US" sz="1450" b="1" dirty="0">
                          <a:solidFill>
                            <a:srgbClr val="F5F6F4"/>
                          </a:solidFill>
                          <a:latin typeface="IBM Plex Sans" pitchFamily="34" charset="0"/>
                          <a:ea typeface="IBM Plex Sans" pitchFamily="34" charset="-122"/>
                          <a:cs typeface="IBM Plex Sans" pitchFamily="34" charset="-120"/>
                        </a:rPr>
                        <a:t>NCCI edition</a:t>
                      </a:r>
                      <a:endParaRPr lang="en-US" sz="1450" dirty="0">
                        <a:latin typeface="IBM Plex Sans" charset="0"/>
                        <a:ea typeface="IBM Plex Sans" charset="0"/>
                        <a:cs typeface="IBM Plex Sans" charset="0"/>
                      </a:endParaRPr>
                    </a:p>
                  </a:txBody>
                  <a:tcPr marL="139700" marR="139700" marT="114300" marB="114300" anchor="t">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12233A"/>
                    </a:solidFill>
                  </a:tcPr>
                </a:tc>
                <a:tc>
                  <a:txBody>
                    <a:bodyPr/>
                    <a:lstStyle/>
                    <a:p>
                      <a:pPr indent="0" marL="0">
                        <a:lnSpc>
                          <a:spcPts val="2030"/>
                        </a:lnSpc>
                        <a:buNone/>
                      </a:pPr>
                      <a:r>
                        <a:rPr lang="en-US" sz="1450" b="1" dirty="0">
                          <a:solidFill>
                            <a:srgbClr val="F5F6F4"/>
                          </a:solidFill>
                          <a:latin typeface="IBM Plex Sans" pitchFamily="34" charset="0"/>
                          <a:ea typeface="IBM Plex Sans" pitchFamily="34" charset="-122"/>
                          <a:cs typeface="IBM Plex Sans" pitchFamily="34" charset="-120"/>
                        </a:rPr>
                        <a:t>Where its codes actually land</a:t>
                      </a:r>
                      <a:endParaRPr lang="en-US" sz="1450" dirty="0">
                        <a:latin typeface="IBM Plex Sans" charset="0"/>
                        <a:ea typeface="IBM Plex Sans" charset="0"/>
                        <a:cs typeface="IBM Plex Sans" charset="0"/>
                      </a:endParaRPr>
                    </a:p>
                  </a:txBody>
                  <a:tcPr marL="139700" marR="139700" marT="114300" marB="114300" anchor="t">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12233A"/>
                    </a:solidFill>
                  </a:tcPr>
                </a:tc>
              </a:tr>
              <a:tr h="756841">
                <a:tc>
                  <a:txBody>
                    <a:bodyPr/>
                    <a:lstStyle/>
                    <a:p>
                      <a:pPr indent="0" marL="0">
                        <a:lnSpc>
                          <a:spcPts val="2030"/>
                        </a:lnSpc>
                        <a:buNone/>
                      </a:pPr>
                      <a:r>
                        <a:rPr lang="en-US" sz="1450" dirty="0">
                          <a:solidFill>
                            <a:srgbClr val="14273D"/>
                          </a:solidFill>
                          <a:latin typeface="IBM Plex Sans" pitchFamily="34" charset="0"/>
                          <a:ea typeface="IBM Plex Sans" pitchFamily="34" charset="-122"/>
                          <a:cs typeface="IBM Plex Sans" pitchFamily="34" charset="-120"/>
                        </a:rPr>
                        <a:t>DME</a:t>
                      </a:r>
                      <a:endParaRPr lang="en-US" sz="1450" dirty="0">
                        <a:latin typeface="IBM Plex Sans" charset="0"/>
                        <a:ea typeface="IBM Plex Sans" charset="0"/>
                        <a:cs typeface="IBM Plex Sans" charset="0"/>
                      </a:endParaRPr>
                    </a:p>
                  </a:txBody>
                  <a:tcPr marL="139700" marR="139700" marT="114300" marB="114300" anchor="t">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FFFFFF"/>
                    </a:solidFill>
                  </a:tcPr>
                </a:tc>
                <a:tc>
                  <a:txBody>
                    <a:bodyPr/>
                    <a:lstStyle/>
                    <a:p>
                      <a:pPr indent="0" marL="0">
                        <a:lnSpc>
                          <a:spcPts val="2030"/>
                        </a:lnSpc>
                        <a:buNone/>
                      </a:pPr>
                      <a:r>
                        <a:rPr lang="en-US" sz="1450" dirty="0">
                          <a:solidFill>
                            <a:srgbClr val="14273D"/>
                          </a:solidFill>
                          <a:latin typeface="IBM Plex Sans" pitchFamily="34" charset="0"/>
                          <a:ea typeface="IBM Plex Sans" pitchFamily="34" charset="-122"/>
                          <a:cs typeface="IBM Plex Sans" pitchFamily="34" charset="-120"/>
                        </a:rPr>
                        <a:t>form A — 162k lines (same as practitioner)</a:t>
                      </a:r>
                      <a:endParaRPr lang="en-US" sz="1450" dirty="0">
                        <a:latin typeface="IBM Plex Sans" charset="0"/>
                        <a:ea typeface="IBM Plex Sans" charset="0"/>
                        <a:cs typeface="IBM Plex Sans" charset="0"/>
                      </a:endParaRPr>
                    </a:p>
                  </a:txBody>
                  <a:tcPr marL="139700" marR="139700" marT="114300" marB="114300" anchor="t">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FFFFFF"/>
                    </a:solidFill>
                  </a:tcPr>
                </a:tc>
              </a:tr>
              <a:tr h="499070">
                <a:tc>
                  <a:txBody>
                    <a:bodyPr/>
                    <a:lstStyle/>
                    <a:p>
                      <a:pPr indent="0" marL="0">
                        <a:lnSpc>
                          <a:spcPts val="2030"/>
                        </a:lnSpc>
                        <a:buNone/>
                      </a:pPr>
                      <a:r>
                        <a:rPr lang="en-US" sz="1450" dirty="0">
                          <a:solidFill>
                            <a:srgbClr val="14273D"/>
                          </a:solidFill>
                          <a:latin typeface="IBM Plex Sans" pitchFamily="34" charset="0"/>
                          <a:ea typeface="IBM Plex Sans" pitchFamily="34" charset="-122"/>
                          <a:cs typeface="IBM Plex Sans" pitchFamily="34" charset="-120"/>
                        </a:rPr>
                        <a:t>Outpatient</a:t>
                      </a:r>
                      <a:endParaRPr lang="en-US" sz="1450" dirty="0">
                        <a:latin typeface="IBM Plex Sans" charset="0"/>
                        <a:ea typeface="IBM Plex Sans" charset="0"/>
                        <a:cs typeface="IBM Plex Sans" charset="0"/>
                      </a:endParaRPr>
                    </a:p>
                  </a:txBody>
                  <a:tcPr marL="139700" marR="139700" marT="114300" marB="114300" anchor="t">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F0F2EF"/>
                    </a:solidFill>
                  </a:tcPr>
                </a:tc>
                <a:tc>
                  <a:txBody>
                    <a:bodyPr/>
                    <a:lstStyle/>
                    <a:p>
                      <a:pPr indent="0" marL="0">
                        <a:lnSpc>
                          <a:spcPts val="2030"/>
                        </a:lnSpc>
                        <a:buNone/>
                      </a:pPr>
                      <a:r>
                        <a:rPr lang="en-US" sz="1450" dirty="0">
                          <a:solidFill>
                            <a:srgbClr val="14273D"/>
                          </a:solidFill>
                          <a:latin typeface="IBM Plex Sans" pitchFamily="34" charset="0"/>
                          <a:ea typeface="IBM Plex Sans" pitchFamily="34" charset="-122"/>
                          <a:cs typeface="IBM Plex Sans" pitchFamily="34" charset="-120"/>
                        </a:rPr>
                        <a:t>96% on A, 4% on D</a:t>
                      </a:r>
                      <a:endParaRPr lang="en-US" sz="1450" dirty="0">
                        <a:latin typeface="IBM Plex Sans" charset="0"/>
                        <a:ea typeface="IBM Plex Sans" charset="0"/>
                        <a:cs typeface="IBM Plex Sans" charset="0"/>
                      </a:endParaRPr>
                    </a:p>
                  </a:txBody>
                  <a:tcPr marL="139700" marR="139700" marT="114300" marB="114300" anchor="t">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F0F2EF"/>
                    </a:solidFill>
                  </a:tcPr>
                </a:tc>
              </a:tr>
              <a:tr h="499070">
                <a:tc>
                  <a:txBody>
                    <a:bodyPr/>
                    <a:lstStyle/>
                    <a:p>
                      <a:pPr indent="0" marL="0">
                        <a:lnSpc>
                          <a:spcPts val="2030"/>
                        </a:lnSpc>
                        <a:buNone/>
                      </a:pPr>
                      <a:r>
                        <a:rPr lang="en-US" sz="1450" dirty="0">
                          <a:solidFill>
                            <a:srgbClr val="14273D"/>
                          </a:solidFill>
                          <a:latin typeface="IBM Plex Sans" pitchFamily="34" charset="0"/>
                          <a:ea typeface="IBM Plex Sans" pitchFamily="34" charset="-122"/>
                          <a:cs typeface="IBM Plex Sans" pitchFamily="34" charset="-120"/>
                        </a:rPr>
                        <a:t>We looked for form 'O'</a:t>
                      </a:r>
                      <a:endParaRPr lang="en-US" sz="1450" dirty="0">
                        <a:latin typeface="IBM Plex Sans" charset="0"/>
                        <a:ea typeface="IBM Plex Sans" charset="0"/>
                        <a:cs typeface="IBM Plex Sans" charset="0"/>
                      </a:endParaRPr>
                    </a:p>
                  </a:txBody>
                  <a:tcPr marL="139700" marR="139700" marT="114300" marB="114300" anchor="t">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FFFFFF"/>
                    </a:solidFill>
                  </a:tcPr>
                </a:tc>
                <a:tc>
                  <a:txBody>
                    <a:bodyPr/>
                    <a:lstStyle/>
                    <a:p>
                      <a:pPr indent="0" marL="0">
                        <a:lnSpc>
                          <a:spcPts val="2030"/>
                        </a:lnSpc>
                        <a:buNone/>
                      </a:pPr>
                      <a:r>
                        <a:rPr lang="en-US" sz="1450" dirty="0">
                          <a:solidFill>
                            <a:srgbClr val="B4552E"/>
                          </a:solidFill>
                          <a:latin typeface="IBM Plex Sans" pitchFamily="34" charset="0"/>
                          <a:ea typeface="IBM Plex Sans" pitchFamily="34" charset="-122"/>
                          <a:cs typeface="IBM Plex Sans" pitchFamily="34" charset="-120"/>
                        </a:rPr>
                        <a:t>it does not exist</a:t>
                      </a:r>
                      <a:endParaRPr lang="en-US" sz="1450" dirty="0">
                        <a:latin typeface="IBM Plex Sans" charset="0"/>
                        <a:ea typeface="IBM Plex Sans" charset="0"/>
                        <a:cs typeface="IBM Plex Sans" charset="0"/>
                      </a:endParaRPr>
                    </a:p>
                  </a:txBody>
                  <a:tcPr marL="139700" marR="139700" marT="114300" marB="114300" anchor="t">
                    <a:lnL w="12700" cap="flat" cmpd="sng" algn="ctr">
                      <a:solidFill>
                        <a:srgbClr val="C4C8CC"/>
                      </a:solidFill>
                      <a:prstDash val="solid"/>
                      <a:round/>
                      <a:headEnd type="none" w="med" len="med"/>
                      <a:tailEnd type="none" w="med" len="med"/>
                    </a:lnL>
                    <a:lnR w="12700" cap="flat" cmpd="sng" algn="ctr">
                      <a:solidFill>
                        <a:srgbClr val="C4C8CC"/>
                      </a:solidFill>
                      <a:prstDash val="solid"/>
                      <a:round/>
                      <a:headEnd type="none" w="med" len="med"/>
                      <a:tailEnd type="none" w="med" len="med"/>
                    </a:lnR>
                    <a:lnT w="12700" cap="flat" cmpd="sng" algn="ctr">
                      <a:solidFill>
                        <a:srgbClr val="C4C8CC"/>
                      </a:solidFill>
                      <a:prstDash val="solid"/>
                      <a:round/>
                      <a:headEnd type="none" w="med" len="med"/>
                      <a:tailEnd type="none" w="med" len="med"/>
                    </a:lnT>
                    <a:lnB w="12700" cap="flat" cmpd="sng" algn="ctr">
                      <a:solidFill>
                        <a:srgbClr val="C4C8CC"/>
                      </a:solidFill>
                      <a:prstDash val="solid"/>
                      <a:round/>
                      <a:headEnd type="none" w="med" len="med"/>
                      <a:tailEnd type="none" w="med" len="med"/>
                    </a:lnB>
                    <a:solidFill>
                      <a:srgbClr val="FFFFFF"/>
                    </a:solidFill>
                  </a:tcPr>
                </a:tc>
              </a:tr>
            </a:tbl>
          </a:graphicData>
        </a:graphic>
      </p:graphicFrame>
      <p:sp>
        <p:nvSpPr>
          <p:cNvPr id="5" name="Text 2"/>
          <p:cNvSpPr/>
          <p:nvPr/>
        </p:nvSpPr>
        <p:spPr>
          <a:xfrm>
            <a:off x="6254750" y="2733477"/>
            <a:ext cx="5278184" cy="573881"/>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4273D"/>
                </a:solidFill>
                <a:latin typeface="IBM Plex Sans" pitchFamily="34" charset="0"/>
                <a:ea typeface="IBM Plex Sans" pitchFamily="34" charset="-122"/>
                <a:cs typeface="IBM Plex Sans" pitchFamily="34" charset="-120"/>
              </a:rPr>
              <a:t>Claim form does not identify NCCI edition</a:t>
            </a:r>
            <a:r>
              <a:rPr lang="en-US" sz="1600" dirty="0">
                <a:solidFill>
                  <a:srgbClr val="14273D"/>
                </a:solidFill>
                <a:latin typeface="IBM Plex Sans" pitchFamily="34" charset="0"/>
                <a:ea typeface="IBM Plex Sans" pitchFamily="34" charset="-122"/>
                <a:cs typeface="IBM Plex Sans" pitchFamily="34" charset="-120"/>
              </a:rPr>
              <a:t> — all three editions land on the same form.</a:t>
            </a:r>
            <a:endParaRPr lang="en-US" sz="1600" dirty="0"/>
          </a:p>
        </p:txBody>
      </p:sp>
      <p:sp>
        <p:nvSpPr>
          <p:cNvPr id="6" name="Text 3"/>
          <p:cNvSpPr/>
          <p:nvPr/>
        </p:nvSpPr>
        <p:spPr>
          <a:xfrm>
            <a:off x="6254750" y="3383558"/>
            <a:ext cx="527818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5627A"/>
                </a:solidFill>
                <a:latin typeface="IBM Plex Sans" pitchFamily="34" charset="0"/>
                <a:ea typeface="IBM Plex Sans" pitchFamily="34" charset="-122"/>
                <a:cs typeface="IBM Plex Sans" pitchFamily="34" charset="-120"/>
              </a:rPr>
              <a:t>So detectors route by procedure code, and a code in two editions collapses to the most permissive limit — a shared claim is never flagged by the stricter edition.</a:t>
            </a:r>
            <a:endParaRPr lang="en-US" sz="1500" dirty="0"/>
          </a:p>
        </p:txBody>
      </p:sp>
      <p:sp>
        <p:nvSpPr>
          <p:cNvPr id="7" name="Shape 4"/>
          <p:cNvSpPr/>
          <p:nvPr/>
        </p:nvSpPr>
        <p:spPr>
          <a:xfrm>
            <a:off x="831850" y="5278239"/>
            <a:ext cx="0" cy="627261"/>
          </a:xfrm>
          <a:prstGeom prst="line">
            <a:avLst/>
          </a:prstGeom>
          <a:noFill/>
          <a:ln w="38100">
            <a:solidFill>
              <a:srgbClr val="1F7A6B"/>
            </a:solidFill>
            <a:prstDash val="solid"/>
          </a:ln>
        </p:spPr>
      </p:sp>
      <p:sp>
        <p:nvSpPr>
          <p:cNvPr id="8" name="Text 5"/>
          <p:cNvSpPr/>
          <p:nvPr/>
        </p:nvSpPr>
        <p:spPr>
          <a:xfrm>
            <a:off x="1054100" y="5316339"/>
            <a:ext cx="10634853" cy="576461"/>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14273D"/>
                </a:solidFill>
                <a:latin typeface="IBM Plex Sans" pitchFamily="34" charset="0"/>
                <a:ea typeface="IBM Plex Sans" pitchFamily="34" charset="-122"/>
                <a:cs typeface="IBM Plex Sans" pitchFamily="34" charset="-120"/>
              </a:rPr>
              <a:t>Why it matters:</a:t>
            </a:r>
            <a:r>
              <a:rPr lang="en-US" sz="1550" dirty="0">
                <a:solidFill>
                  <a:srgbClr val="14273D"/>
                </a:solidFill>
                <a:latin typeface="IBM Plex Sans" pitchFamily="34" charset="0"/>
                <a:ea typeface="IBM Plex Sans" pitchFamily="34" charset="-122"/>
                <a:cs typeface="IBM Plex Sans" pitchFamily="34" charset="-120"/>
              </a:rPr>
              <a:t> this is exactly how a system produces confident wrong answers. We caught it by querying the real data, not by trusting the design.</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DEFENSIBLE · 04 — PROVENANCE</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Every rule is uniquely identified and traceable</a:t>
            </a:r>
            <a:endParaRPr lang="en-US" sz="3300" dirty="0"/>
          </a:p>
        </p:txBody>
      </p:sp>
      <p:sp>
        <p:nvSpPr>
          <p:cNvPr id="4" name="Shape 2"/>
          <p:cNvSpPr/>
          <p:nvPr/>
        </p:nvSpPr>
        <p:spPr>
          <a:xfrm>
            <a:off x="815975" y="2449314"/>
            <a:ext cx="5149850" cy="1989931"/>
          </a:xfrm>
          <a:prstGeom prst="roundRect">
            <a:avLst>
              <a:gd name="adj" fmla="val 4946"/>
            </a:avLst>
          </a:prstGeom>
          <a:solidFill>
            <a:srgbClr val="FFFFFF"/>
          </a:solidFill>
          <a:ln w="6350">
            <a:solidFill>
              <a:srgbClr val="E3E6E4"/>
            </a:solidFill>
            <a:prstDash val="solid"/>
          </a:ln>
        </p:spPr>
      </p:sp>
      <p:sp>
        <p:nvSpPr>
          <p:cNvPr id="5" name="Text 3"/>
          <p:cNvSpPr/>
          <p:nvPr/>
        </p:nvSpPr>
        <p:spPr>
          <a:xfrm>
            <a:off x="1098550" y="2731889"/>
            <a:ext cx="4722241" cy="229791"/>
          </a:xfrm>
          <a:prstGeom prst="rect">
            <a:avLst/>
          </a:prstGeom>
          <a:noFill/>
          <a:ln/>
        </p:spPr>
        <p:txBody>
          <a:bodyPr wrap="square" lIns="0" tIns="0" rIns="0" bIns="0" rtlCol="0" anchor="t">
            <a:normAutofit/>
          </a:bodyPr>
          <a:lstStyle/>
          <a:p>
            <a:pPr algn="l" indent="0" marL="0">
              <a:lnSpc>
                <a:spcPts val="1610"/>
              </a:lnSpc>
              <a:buNone/>
            </a:pPr>
            <a:r>
              <a:rPr lang="en-US" sz="1150" spc="50" kern="0" dirty="0">
                <a:solidFill>
                  <a:srgbClr val="B4552E"/>
                </a:solidFill>
                <a:latin typeface="JetBrains Mono" pitchFamily="34" charset="0"/>
                <a:ea typeface="JetBrains Mono" pitchFamily="34" charset="-122"/>
                <a:cs typeface="JetBrains Mono" pitchFamily="34" charset="-120"/>
              </a:rPr>
              <a:t>WAS</a:t>
            </a:r>
            <a:endParaRPr lang="en-US" sz="1150" dirty="0"/>
          </a:p>
        </p:txBody>
      </p:sp>
      <p:sp>
        <p:nvSpPr>
          <p:cNvPr id="6" name="Text 4"/>
          <p:cNvSpPr/>
          <p:nvPr/>
        </p:nvSpPr>
        <p:spPr>
          <a:xfrm>
            <a:off x="1098550" y="3025180"/>
            <a:ext cx="4722241" cy="874018"/>
          </a:xfrm>
          <a:prstGeom prst="rect">
            <a:avLst/>
          </a:prstGeom>
          <a:noFill/>
          <a:ln/>
        </p:spPr>
        <p:txBody>
          <a:bodyPr wrap="square" lIns="0" tIns="0" rIns="0" bIns="0" rtlCol="0" anchor="t">
            <a:normAutofit/>
          </a:bodyPr>
          <a:lstStyle/>
          <a:p>
            <a:pPr algn="l" indent="0" marL="0">
              <a:lnSpc>
                <a:spcPts val="2228"/>
              </a:lnSpc>
              <a:buNone/>
            </a:pPr>
            <a:r>
              <a:rPr lang="en-US" sz="1650" dirty="0">
                <a:solidFill>
                  <a:srgbClr val="55627A"/>
                </a:solidFill>
                <a:latin typeface="IBM Plex Sans" pitchFamily="34" charset="0"/>
                <a:ea typeface="IBM Plex Sans" pitchFamily="34" charset="-122"/>
                <a:cs typeface="IBM Plex Sans" pitchFamily="34" charset="-120"/>
              </a:rPr>
              <a:t>Rule IDs collided — nine different rules shared one ID. The table couldn't be used as a reference.</a:t>
            </a:r>
            <a:endParaRPr lang="en-US" sz="1650" dirty="0"/>
          </a:p>
        </p:txBody>
      </p:sp>
      <p:sp>
        <p:nvSpPr>
          <p:cNvPr id="7" name="Shape 5"/>
          <p:cNvSpPr/>
          <p:nvPr/>
        </p:nvSpPr>
        <p:spPr>
          <a:xfrm>
            <a:off x="6226175" y="2449314"/>
            <a:ext cx="5149850" cy="1989931"/>
          </a:xfrm>
          <a:prstGeom prst="roundRect">
            <a:avLst>
              <a:gd name="adj" fmla="val 4946"/>
            </a:avLst>
          </a:prstGeom>
          <a:solidFill>
            <a:srgbClr val="FFFFFF"/>
          </a:solidFill>
          <a:ln w="6350">
            <a:solidFill>
              <a:srgbClr val="E3E6E4"/>
            </a:solidFill>
            <a:prstDash val="solid"/>
          </a:ln>
        </p:spPr>
      </p:sp>
      <p:sp>
        <p:nvSpPr>
          <p:cNvPr id="8" name="Text 6"/>
          <p:cNvSpPr/>
          <p:nvPr/>
        </p:nvSpPr>
        <p:spPr>
          <a:xfrm>
            <a:off x="6508750" y="2731889"/>
            <a:ext cx="4722241" cy="229791"/>
          </a:xfrm>
          <a:prstGeom prst="rect">
            <a:avLst/>
          </a:prstGeom>
          <a:noFill/>
          <a:ln/>
        </p:spPr>
        <p:txBody>
          <a:bodyPr wrap="square" lIns="0" tIns="0" rIns="0" bIns="0" rtlCol="0" anchor="t">
            <a:normAutofit/>
          </a:bodyPr>
          <a:lstStyle/>
          <a:p>
            <a:pPr algn="l" indent="0" marL="0">
              <a:lnSpc>
                <a:spcPts val="1610"/>
              </a:lnSpc>
              <a:buNone/>
            </a:pPr>
            <a:r>
              <a:rPr lang="en-US" sz="1150" spc="50" kern="0" dirty="0">
                <a:solidFill>
                  <a:srgbClr val="1F7A6B"/>
                </a:solidFill>
                <a:latin typeface="JetBrains Mono" pitchFamily="34" charset="0"/>
                <a:ea typeface="JetBrains Mono" pitchFamily="34" charset="-122"/>
                <a:cs typeface="JetBrains Mono" pitchFamily="34" charset="-120"/>
              </a:rPr>
              <a:t>NOW</a:t>
            </a:r>
            <a:endParaRPr lang="en-US" sz="1150" dirty="0"/>
          </a:p>
        </p:txBody>
      </p:sp>
      <p:sp>
        <p:nvSpPr>
          <p:cNvPr id="9" name="Text 7"/>
          <p:cNvSpPr/>
          <p:nvPr/>
        </p:nvSpPr>
        <p:spPr>
          <a:xfrm>
            <a:off x="6508750" y="3025180"/>
            <a:ext cx="4722241" cy="1156891"/>
          </a:xfrm>
          <a:prstGeom prst="rect">
            <a:avLst/>
          </a:prstGeom>
          <a:noFill/>
          <a:ln/>
        </p:spPr>
        <p:txBody>
          <a:bodyPr wrap="square" lIns="0" tIns="0" rIns="0" bIns="0" rtlCol="0" anchor="t">
            <a:normAutofit/>
          </a:bodyPr>
          <a:lstStyle/>
          <a:p>
            <a:pPr algn="l" indent="0" marL="0">
              <a:lnSpc>
                <a:spcPts val="2228"/>
              </a:lnSpc>
              <a:buNone/>
            </a:pPr>
            <a:r>
              <a:rPr lang="en-US" sz="1650" dirty="0">
                <a:solidFill>
                  <a:srgbClr val="14273D"/>
                </a:solidFill>
                <a:latin typeface="IBM Plex Sans" pitchFamily="34" charset="0"/>
                <a:ea typeface="IBM Plex Sans" pitchFamily="34" charset="-122"/>
                <a:cs typeface="IBM Plex Sans" pitchFamily="34" charset="-120"/>
              </a:rPr>
              <a:t>IDs are derived from rule content, and every rule carries its exact source: chapter, page, section, revision date, source URL, and a hash of the document snapshot.</a:t>
            </a:r>
            <a:endParaRPr lang="en-US" sz="1650" dirty="0"/>
          </a:p>
        </p:txBody>
      </p:sp>
      <p:sp>
        <p:nvSpPr>
          <p:cNvPr id="10" name="Shape 8"/>
          <p:cNvSpPr/>
          <p:nvPr/>
        </p:nvSpPr>
        <p:spPr>
          <a:xfrm>
            <a:off x="831850" y="5278239"/>
            <a:ext cx="0" cy="627261"/>
          </a:xfrm>
          <a:prstGeom prst="line">
            <a:avLst/>
          </a:prstGeom>
          <a:noFill/>
          <a:ln w="38100">
            <a:solidFill>
              <a:srgbClr val="1F7A6B"/>
            </a:solidFill>
            <a:prstDash val="solid"/>
          </a:ln>
        </p:spPr>
      </p:sp>
      <p:sp>
        <p:nvSpPr>
          <p:cNvPr id="11" name="Text 9"/>
          <p:cNvSpPr/>
          <p:nvPr/>
        </p:nvSpPr>
        <p:spPr>
          <a:xfrm>
            <a:off x="1054100" y="5316339"/>
            <a:ext cx="10634853" cy="576461"/>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14273D"/>
                </a:solidFill>
                <a:latin typeface="IBM Plex Sans" pitchFamily="34" charset="0"/>
                <a:ea typeface="IBM Plex Sans" pitchFamily="34" charset="-122"/>
                <a:cs typeface="IBM Plex Sans" pitchFamily="34" charset="-120"/>
              </a:rPr>
              <a:t>Why it matters:</a:t>
            </a:r>
            <a:r>
              <a:rPr lang="en-US" sz="1550" dirty="0">
                <a:solidFill>
                  <a:srgbClr val="14273D"/>
                </a:solidFill>
                <a:latin typeface="IBM Plex Sans" pitchFamily="34" charset="0"/>
                <a:ea typeface="IBM Plex Sans" pitchFamily="34" charset="-122"/>
                <a:cs typeface="IBM Plex Sans" pitchFamily="34" charset="-120"/>
              </a:rPr>
              <a:t> auditability is our differentiator. You cannot defend a rule you can't uniquely name or trace back to the page it came from.</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DEFENSIBLE · 05 — GOVERNANCE</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The human gate is now real — and logged</a:t>
            </a:r>
            <a:endParaRPr lang="en-US" sz="3300" dirty="0"/>
          </a:p>
        </p:txBody>
      </p:sp>
      <p:sp>
        <p:nvSpPr>
          <p:cNvPr id="4" name="Shape 2"/>
          <p:cNvSpPr/>
          <p:nvPr/>
        </p:nvSpPr>
        <p:spPr>
          <a:xfrm>
            <a:off x="815975" y="2149277"/>
            <a:ext cx="886619" cy="577850"/>
          </a:xfrm>
          <a:prstGeom prst="roundRect">
            <a:avLst>
              <a:gd name="adj" fmla="val 12637"/>
            </a:avLst>
          </a:prstGeom>
          <a:solidFill>
            <a:srgbClr val="FFFFFF"/>
          </a:solidFill>
          <a:ln w="6350">
            <a:solidFill>
              <a:srgbClr val="E3E6E4"/>
            </a:solidFill>
            <a:prstDash val="solid"/>
          </a:ln>
        </p:spPr>
      </p:sp>
      <p:sp>
        <p:nvSpPr>
          <p:cNvPr id="5" name="Text 3"/>
          <p:cNvSpPr/>
          <p:nvPr/>
        </p:nvSpPr>
        <p:spPr>
          <a:xfrm>
            <a:off x="1035050" y="2304852"/>
            <a:ext cx="49926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73D"/>
                </a:solidFill>
                <a:latin typeface="IBM Plex Sans" pitchFamily="34" charset="0"/>
                <a:ea typeface="IBM Plex Sans" pitchFamily="34" charset="-122"/>
                <a:cs typeface="IBM Plex Sans" pitchFamily="34" charset="-120"/>
              </a:rPr>
              <a:t>Draft</a:t>
            </a:r>
            <a:endParaRPr lang="en-US" sz="1500" dirty="0"/>
          </a:p>
        </p:txBody>
      </p:sp>
      <p:sp>
        <p:nvSpPr>
          <p:cNvPr id="6" name="Text 4"/>
          <p:cNvSpPr/>
          <p:nvPr/>
        </p:nvSpPr>
        <p:spPr>
          <a:xfrm>
            <a:off x="1832769" y="2287091"/>
            <a:ext cx="2667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7A6B"/>
                </a:solidFill>
                <a:latin typeface="IBM Plex Sans" pitchFamily="34" charset="0"/>
                <a:ea typeface="IBM Plex Sans" pitchFamily="34" charset="-122"/>
                <a:cs typeface="IBM Plex Sans" pitchFamily="34" charset="-120"/>
              </a:rPr>
              <a:t>→</a:t>
            </a:r>
            <a:endParaRPr lang="en-US" sz="1700" dirty="0"/>
          </a:p>
        </p:txBody>
      </p:sp>
      <p:sp>
        <p:nvSpPr>
          <p:cNvPr id="7" name="Shape 5"/>
          <p:cNvSpPr/>
          <p:nvPr/>
        </p:nvSpPr>
        <p:spPr>
          <a:xfrm>
            <a:off x="2178844" y="2149277"/>
            <a:ext cx="3015754" cy="577850"/>
          </a:xfrm>
          <a:prstGeom prst="roundRect">
            <a:avLst>
              <a:gd name="adj" fmla="val 12637"/>
            </a:avLst>
          </a:prstGeom>
          <a:solidFill>
            <a:srgbClr val="FFFFFF"/>
          </a:solidFill>
          <a:ln w="6350">
            <a:solidFill>
              <a:srgbClr val="E3E6E4"/>
            </a:solidFill>
            <a:prstDash val="solid"/>
          </a:ln>
        </p:spPr>
      </p:sp>
      <p:sp>
        <p:nvSpPr>
          <p:cNvPr id="8" name="Text 6"/>
          <p:cNvSpPr/>
          <p:nvPr/>
        </p:nvSpPr>
        <p:spPr>
          <a:xfrm>
            <a:off x="2397919" y="2304852"/>
            <a:ext cx="26549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73D"/>
                </a:solidFill>
                <a:latin typeface="IBM Plex Sans" pitchFamily="34" charset="0"/>
                <a:ea typeface="IBM Plex Sans" pitchFamily="34" charset="-122"/>
                <a:cs typeface="IBM Plex Sans" pitchFamily="34" charset="-120"/>
              </a:rPr>
              <a:t>Reviewed by a named person</a:t>
            </a:r>
            <a:endParaRPr lang="en-US" sz="1500" dirty="0"/>
          </a:p>
        </p:txBody>
      </p:sp>
      <p:sp>
        <p:nvSpPr>
          <p:cNvPr id="9" name="Text 7"/>
          <p:cNvSpPr/>
          <p:nvPr/>
        </p:nvSpPr>
        <p:spPr>
          <a:xfrm>
            <a:off x="5324773" y="2287091"/>
            <a:ext cx="2667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7A6B"/>
                </a:solidFill>
                <a:latin typeface="IBM Plex Sans" pitchFamily="34" charset="0"/>
                <a:ea typeface="IBM Plex Sans" pitchFamily="34" charset="-122"/>
                <a:cs typeface="IBM Plex Sans" pitchFamily="34" charset="-120"/>
              </a:rPr>
              <a:t>→</a:t>
            </a:r>
            <a:endParaRPr lang="en-US" sz="1700" dirty="0"/>
          </a:p>
        </p:txBody>
      </p:sp>
      <p:sp>
        <p:nvSpPr>
          <p:cNvPr id="10" name="Shape 8"/>
          <p:cNvSpPr/>
          <p:nvPr/>
        </p:nvSpPr>
        <p:spPr>
          <a:xfrm>
            <a:off x="5667673" y="2152452"/>
            <a:ext cx="3101380" cy="571500"/>
          </a:xfrm>
          <a:prstGeom prst="roundRect">
            <a:avLst>
              <a:gd name="adj" fmla="val 13333"/>
            </a:avLst>
          </a:prstGeom>
          <a:solidFill>
            <a:srgbClr val="1F7A6B"/>
          </a:solidFill>
          <a:ln/>
        </p:spPr>
      </p:sp>
      <p:sp>
        <p:nvSpPr>
          <p:cNvPr id="11" name="Text 9"/>
          <p:cNvSpPr/>
          <p:nvPr/>
        </p:nvSpPr>
        <p:spPr>
          <a:xfrm>
            <a:off x="5883573" y="2304852"/>
            <a:ext cx="274966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IBM Plex Sans" pitchFamily="34" charset="0"/>
                <a:ea typeface="IBM Plex Sans" pitchFamily="34" charset="-122"/>
                <a:cs typeface="IBM Plex Sans" pitchFamily="34" charset="-120"/>
              </a:rPr>
              <a:t>Approved &amp; dated → compiles</a:t>
            </a:r>
            <a:endParaRPr lang="en-US" sz="1500" dirty="0"/>
          </a:p>
        </p:txBody>
      </p:sp>
      <p:sp>
        <p:nvSpPr>
          <p:cNvPr id="12" name="Text 10"/>
          <p:cNvSpPr/>
          <p:nvPr/>
        </p:nvSpPr>
        <p:spPr>
          <a:xfrm>
            <a:off x="1066800" y="3266083"/>
            <a:ext cx="10621772" cy="1501775"/>
          </a:xfrm>
          <a:prstGeom prst="rect">
            <a:avLst/>
          </a:prstGeom>
          <a:noFill/>
          <a:ln/>
        </p:spPr>
        <p:txBody>
          <a:bodyPr wrap="square" lIns="0" tIns="0" rIns="0" bIns="0" rtlCol="0" anchor="t">
            <a:normAutofit/>
          </a:bodyPr>
          <a:lstStyle/>
          <a:p>
            <a:pPr algn="l" marL="342900" indent="-342900">
              <a:lnSpc>
                <a:spcPts val="2325"/>
              </a:lnSpc>
              <a:buSzPct val="100000"/>
              <a:buChar char="•"/>
            </a:pPr>
            <a:r>
              <a:rPr lang="en-US" sz="1550" dirty="0">
                <a:solidFill>
                  <a:srgbClr val="14273D"/>
                </a:solidFill>
                <a:latin typeface="IBM Plex Sans" pitchFamily="34" charset="0"/>
                <a:ea typeface="IBM Plex Sans" pitchFamily="34" charset="-122"/>
                <a:cs typeface="IBM Plex Sans" pitchFamily="34" charset="-120"/>
              </a:rPr>
              <a:t>Rules move through an explicit lifecycle with a named reviewer and date — an approve/reject log.</a:t>
            </a:r>
            <a:endParaRPr lang="en-US" sz="1550" dirty="0"/>
          </a:p>
          <a:p>
            <a:pPr algn="l" marL="342900" indent="-342900">
              <a:lnSpc>
                <a:spcPts val="2325"/>
              </a:lnSpc>
              <a:buSzPct val="100000"/>
              <a:buChar char="•"/>
            </a:pPr>
            <a:r>
              <a:rPr lang="en-US" sz="1550" dirty="0">
                <a:solidFill>
                  <a:srgbClr val="14273D"/>
                </a:solidFill>
                <a:latin typeface="IBM Plex Sans" pitchFamily="34" charset="0"/>
                <a:ea typeface="IBM Plex Sans" pitchFamily="34" charset="-122"/>
                <a:cs typeface="IBM Plex Sans" pitchFamily="34" charset="-120"/>
              </a:rPr>
              <a:t>State rules moved out of code into a reviewed table: </a:t>
            </a:r>
            <a:r>
              <a:rPr lang="en-US" sz="1550" b="1" dirty="0">
                <a:solidFill>
                  <a:srgbClr val="14273D"/>
                </a:solidFill>
                <a:latin typeface="IBM Plex Sans" pitchFamily="34" charset="0"/>
                <a:ea typeface="IBM Plex Sans" pitchFamily="34" charset="-122"/>
                <a:cs typeface="IBM Plex Sans" pitchFamily="34" charset="-120"/>
              </a:rPr>
              <a:t>adding a chapter means adding reviewed rows, not editing the pipeline.</a:t>
            </a:r>
            <a:endParaRPr lang="en-US" sz="1550" dirty="0"/>
          </a:p>
          <a:p>
            <a:pPr algn="l" marL="342900" indent="-342900">
              <a:lnSpc>
                <a:spcPts val="2325"/>
              </a:lnSpc>
              <a:buSzPct val="100000"/>
              <a:buChar char="•"/>
            </a:pPr>
            <a:r>
              <a:rPr lang="en-US" sz="1550" dirty="0">
                <a:solidFill>
                  <a:srgbClr val="14273D"/>
                </a:solidFill>
                <a:latin typeface="IBM Plex Sans" pitchFamily="34" charset="0"/>
                <a:ea typeface="IBM Plex Sans" pitchFamily="34" charset="-122"/>
                <a:cs typeface="IBM Plex Sans" pitchFamily="34" charset="-120"/>
              </a:rPr>
              <a:t>Every vetted rule is kept — including the coverage findings that can't be automated. Those used to vanish into a temporary report; they are the OIG-differentiated product.</a:t>
            </a:r>
            <a:endParaRPr lang="en-US" sz="1550" dirty="0"/>
          </a:p>
        </p:txBody>
      </p:sp>
      <p:sp>
        <p:nvSpPr>
          <p:cNvPr id="13" name="Shape 11"/>
          <p:cNvSpPr/>
          <p:nvPr/>
        </p:nvSpPr>
        <p:spPr>
          <a:xfrm>
            <a:off x="831850" y="5278239"/>
            <a:ext cx="0" cy="627261"/>
          </a:xfrm>
          <a:prstGeom prst="line">
            <a:avLst/>
          </a:prstGeom>
          <a:noFill/>
          <a:ln w="38100">
            <a:solidFill>
              <a:srgbClr val="1F7A6B"/>
            </a:solidFill>
            <a:prstDash val="solid"/>
          </a:ln>
        </p:spPr>
      </p:sp>
      <p:sp>
        <p:nvSpPr>
          <p:cNvPr id="14" name="Text 12"/>
          <p:cNvSpPr/>
          <p:nvPr/>
        </p:nvSpPr>
        <p:spPr>
          <a:xfrm>
            <a:off x="1054100" y="5316339"/>
            <a:ext cx="10634853" cy="576461"/>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14273D"/>
                </a:solidFill>
                <a:latin typeface="IBM Plex Sans" pitchFamily="34" charset="0"/>
                <a:ea typeface="IBM Plex Sans" pitchFamily="34" charset="-122"/>
                <a:cs typeface="IBM Plex Sans" pitchFamily="34" charset="-120"/>
              </a:rPr>
              <a:t>The answer to "so an AI decided what our policy means?"</a:t>
            </a:r>
            <a:r>
              <a:rPr lang="en-US" sz="1550" dirty="0">
                <a:solidFill>
                  <a:srgbClr val="14273D"/>
                </a:solidFill>
                <a:latin typeface="IBM Plex Sans" pitchFamily="34" charset="0"/>
                <a:ea typeface="IBM Plex Sans" pitchFamily="34" charset="-122"/>
                <a:cs typeface="IBM Plex Sans" pitchFamily="34" charset="-120"/>
              </a:rPr>
              <a:t> — No. An AI proposed it, a named person approved it on this date, and here is the record.</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5FB8A6"/>
                </a:solidFill>
                <a:latin typeface="JetBrains Mono" pitchFamily="34" charset="0"/>
                <a:ea typeface="JetBrains Mono" pitchFamily="34" charset="-122"/>
                <a:cs typeface="JetBrains Mono" pitchFamily="34" charset="-120"/>
              </a:rPr>
              <a:t>SCALABLE · 06 — EXTRACTION ENGINE</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F5F6F4"/>
                </a:solidFill>
                <a:latin typeface="IBM Plex Sans" pitchFamily="34" charset="0"/>
                <a:ea typeface="IBM Plex Sans" pitchFamily="34" charset="-122"/>
                <a:cs typeface="IBM Plex Sans" pitchFamily="34" charset="-120"/>
              </a:rPr>
              <a:t>PDF → reviewed rules, across 29 chapters</a:t>
            </a:r>
            <a:endParaRPr lang="en-US" sz="3300" dirty="0"/>
          </a:p>
        </p:txBody>
      </p:sp>
      <p:sp>
        <p:nvSpPr>
          <p:cNvPr id="4" name="Shape 2"/>
          <p:cNvSpPr/>
          <p:nvPr/>
        </p:nvSpPr>
        <p:spPr>
          <a:xfrm>
            <a:off x="815975" y="2216150"/>
            <a:ext cx="10560050" cy="714375"/>
          </a:xfrm>
          <a:prstGeom prst="roundRect">
            <a:avLst>
              <a:gd name="adj" fmla="val 12000"/>
            </a:avLst>
          </a:prstGeom>
          <a:solidFill>
            <a:srgbClr val="0E1C2E"/>
          </a:solidFill>
          <a:ln w="6350">
            <a:solidFill>
              <a:srgbClr val="2E4A6B"/>
            </a:solidFill>
            <a:prstDash val="solid"/>
          </a:ln>
        </p:spPr>
      </p:sp>
      <p:sp>
        <p:nvSpPr>
          <p:cNvPr id="5" name="Text 3"/>
          <p:cNvSpPr/>
          <p:nvPr/>
        </p:nvSpPr>
        <p:spPr>
          <a:xfrm>
            <a:off x="1073150" y="2435225"/>
            <a:ext cx="10347071" cy="301625"/>
          </a:xfrm>
          <a:prstGeom prst="rect">
            <a:avLst/>
          </a:prstGeom>
          <a:noFill/>
          <a:ln/>
        </p:spPr>
        <p:txBody>
          <a:bodyPr wrap="square" lIns="0" tIns="0" rIns="0" bIns="0" rtlCol="0" anchor="t">
            <a:normAutofit/>
          </a:bodyPr>
          <a:lstStyle/>
          <a:p>
            <a:pPr algn="l" indent="0" marL="0">
              <a:lnSpc>
                <a:spcPts val="2175"/>
              </a:lnSpc>
              <a:buNone/>
            </a:pPr>
            <a:r>
              <a:rPr lang="en-US" sz="1450" dirty="0">
                <a:solidFill>
                  <a:srgbClr val="C4D0DE"/>
                </a:solidFill>
                <a:latin typeface="JetBrains Mono" pitchFamily="34" charset="0"/>
                <a:ea typeface="JetBrains Mono" pitchFamily="34" charset="-122"/>
                <a:cs typeface="JetBrains Mono" pitchFamily="34" charset="-120"/>
              </a:rPr>
              <a:t>acquire › parse › segment › pre-filter › </a:t>
            </a:r>
            <a:r>
              <a:rPr lang="en-US" sz="1450" dirty="0">
                <a:solidFill>
                  <a:srgbClr val="5FB8A6"/>
                </a:solidFill>
                <a:latin typeface="JetBrains Mono" pitchFamily="34" charset="0"/>
                <a:ea typeface="JetBrains Mono" pitchFamily="34" charset="-122"/>
                <a:cs typeface="JetBrains Mono" pitchFamily="34" charset="-120"/>
              </a:rPr>
              <a:t>propose</a:t>
            </a:r>
            <a:r>
              <a:rPr lang="en-US" sz="1450" dirty="0">
                <a:solidFill>
                  <a:srgbClr val="C4D0DE"/>
                </a:solidFill>
                <a:latin typeface="JetBrains Mono" pitchFamily="34" charset="0"/>
                <a:ea typeface="JetBrains Mono" pitchFamily="34" charset="-122"/>
                <a:cs typeface="JetBrains Mono" pitchFamily="34" charset="-120"/>
              </a:rPr>
              <a:t> › </a:t>
            </a:r>
            <a:r>
              <a:rPr lang="en-US" sz="1450" dirty="0">
                <a:solidFill>
                  <a:srgbClr val="5FB8A6"/>
                </a:solidFill>
                <a:latin typeface="JetBrains Mono" pitchFamily="34" charset="0"/>
                <a:ea typeface="JetBrains Mono" pitchFamily="34" charset="-122"/>
                <a:cs typeface="JetBrains Mono" pitchFamily="34" charset="-120"/>
              </a:rPr>
              <a:t>ground</a:t>
            </a:r>
            <a:r>
              <a:rPr lang="en-US" sz="1450" dirty="0">
                <a:solidFill>
                  <a:srgbClr val="C4D0DE"/>
                </a:solidFill>
                <a:latin typeface="JetBrains Mono" pitchFamily="34" charset="0"/>
                <a:ea typeface="JetBrains Mono" pitchFamily="34" charset="-122"/>
                <a:cs typeface="JetBrains Mono" pitchFamily="34" charset="-120"/>
              </a:rPr>
              <a:t> › review › track-changes</a:t>
            </a:r>
            <a:endParaRPr lang="en-US" sz="1450" dirty="0"/>
          </a:p>
        </p:txBody>
      </p:sp>
      <p:sp>
        <p:nvSpPr>
          <p:cNvPr id="6" name="Text 4"/>
          <p:cNvSpPr/>
          <p:nvPr/>
        </p:nvSpPr>
        <p:spPr>
          <a:xfrm>
            <a:off x="812800" y="3536355"/>
            <a:ext cx="53108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FB8A6"/>
                </a:solidFill>
                <a:latin typeface="IBM Plex Sans" pitchFamily="34" charset="0"/>
                <a:ea typeface="IBM Plex Sans" pitchFamily="34" charset="-122"/>
                <a:cs typeface="IBM Plex Sans" pitchFamily="34" charset="-120"/>
              </a:rPr>
              <a:t>The safety mechanism: grounding</a:t>
            </a:r>
            <a:endParaRPr lang="en-US" sz="1700" dirty="0"/>
          </a:p>
        </p:txBody>
      </p:sp>
      <p:sp>
        <p:nvSpPr>
          <p:cNvPr id="7" name="Text 5"/>
          <p:cNvSpPr/>
          <p:nvPr/>
        </p:nvSpPr>
        <p:spPr>
          <a:xfrm>
            <a:off x="812800" y="3884315"/>
            <a:ext cx="5310886"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4D0DE"/>
                </a:solidFill>
                <a:latin typeface="IBM Plex Sans" pitchFamily="34" charset="0"/>
                <a:ea typeface="IBM Plex Sans" pitchFamily="34" charset="-122"/>
                <a:cs typeface="IBM Plex Sans" pitchFamily="34" charset="-120"/>
              </a:rPr>
              <a:t>The model only </a:t>
            </a:r>
            <a:r>
              <a:rPr lang="en-US" sz="1500" b="1" dirty="0">
                <a:solidFill>
                  <a:srgbClr val="C4D0DE"/>
                </a:solidFill>
                <a:latin typeface="IBM Plex Sans" pitchFamily="34" charset="0"/>
                <a:ea typeface="IBM Plex Sans" pitchFamily="34" charset="-122"/>
                <a:cs typeface="IBM Plex Sans" pitchFamily="34" charset="-120"/>
              </a:rPr>
              <a:t>proposes</a:t>
            </a:r>
            <a:r>
              <a:rPr lang="en-US" sz="1500" dirty="0">
                <a:solidFill>
                  <a:srgbClr val="C4D0DE"/>
                </a:solidFill>
                <a:latin typeface="IBM Plex Sans" pitchFamily="34" charset="0"/>
                <a:ea typeface="IBM Plex Sans" pitchFamily="34" charset="-122"/>
                <a:cs typeface="IBM Plex Sans" pitchFamily="34" charset="-120"/>
              </a:rPr>
              <a:t> rules into a fixed grammar and must quote the source sentence verbatim. No quote, or codes not in the document → the proposal is refused automatically.</a:t>
            </a:r>
            <a:endParaRPr lang="en-US" sz="1500" dirty="0"/>
          </a:p>
        </p:txBody>
      </p:sp>
      <p:sp>
        <p:nvSpPr>
          <p:cNvPr id="8" name="Text 6"/>
          <p:cNvSpPr/>
          <p:nvPr/>
        </p:nvSpPr>
        <p:spPr>
          <a:xfrm>
            <a:off x="6223000" y="3536355"/>
            <a:ext cx="53108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FB8A6"/>
                </a:solidFill>
                <a:latin typeface="IBM Plex Sans" pitchFamily="34" charset="0"/>
                <a:ea typeface="IBM Plex Sans" pitchFamily="34" charset="-122"/>
                <a:cs typeface="IBM Plex Sans" pitchFamily="34" charset="-120"/>
              </a:rPr>
              <a:t>Was</a:t>
            </a:r>
            <a:endParaRPr lang="en-US" sz="1700" dirty="0"/>
          </a:p>
        </p:txBody>
      </p:sp>
      <p:sp>
        <p:nvSpPr>
          <p:cNvPr id="9" name="Text 7"/>
          <p:cNvSpPr/>
          <p:nvPr/>
        </p:nvSpPr>
        <p:spPr>
          <a:xfrm>
            <a:off x="6223000" y="3884315"/>
            <a:ext cx="531088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4D0DE"/>
                </a:solidFill>
                <a:latin typeface="IBM Plex Sans" pitchFamily="34" charset="0"/>
                <a:ea typeface="IBM Plex Sans" pitchFamily="34" charset="-122"/>
                <a:cs typeface="IBM Plex Sans" pitchFamily="34" charset="-120"/>
              </a:rPr>
              <a:t>Two chapters, transcribed by hand. No path to the other 27, and no path to quarterly refreshes.</a:t>
            </a:r>
            <a:endParaRPr lang="en-US" sz="1500" dirty="0"/>
          </a:p>
        </p:txBody>
      </p:sp>
      <p:sp>
        <p:nvSpPr>
          <p:cNvPr id="10" name="Shape 8"/>
          <p:cNvSpPr/>
          <p:nvPr/>
        </p:nvSpPr>
        <p:spPr>
          <a:xfrm>
            <a:off x="831850" y="5553770"/>
            <a:ext cx="0" cy="351730"/>
          </a:xfrm>
          <a:prstGeom prst="line">
            <a:avLst/>
          </a:prstGeom>
          <a:noFill/>
          <a:ln w="38100">
            <a:solidFill>
              <a:srgbClr val="5FB8A6"/>
            </a:solidFill>
            <a:prstDash val="solid"/>
          </a:ln>
        </p:spPr>
      </p:sp>
      <p:sp>
        <p:nvSpPr>
          <p:cNvPr id="11" name="Text 9"/>
          <p:cNvSpPr/>
          <p:nvPr/>
        </p:nvSpPr>
        <p:spPr>
          <a:xfrm>
            <a:off x="1054100" y="5591870"/>
            <a:ext cx="10634853" cy="300930"/>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F5F6F4"/>
                </a:solidFill>
                <a:latin typeface="IBM Plex Sans" pitchFamily="34" charset="0"/>
                <a:ea typeface="IBM Plex Sans" pitchFamily="34" charset="-122"/>
                <a:cs typeface="IBM Plex Sans" pitchFamily="34" charset="-120"/>
              </a:rPr>
              <a:t>The model is never in the detection path.</a:t>
            </a:r>
            <a:r>
              <a:rPr lang="en-US" sz="1550" dirty="0">
                <a:solidFill>
                  <a:srgbClr val="F5F6F4"/>
                </a:solidFill>
                <a:latin typeface="IBM Plex Sans" pitchFamily="34" charset="0"/>
                <a:ea typeface="IBM Plex Sans" pitchFamily="34" charset="-122"/>
                <a:cs typeface="IBM Plex Sans" pitchFamily="34" charset="-120"/>
              </a:rPr>
              <a:t> It proposes, the document verifies, a human approves, then it compiles.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PROVEN · 07 — IT RUNS AND WE MEASURE IT</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From "it compiles" to "it runs, and we can measure it"</a:t>
            </a:r>
            <a:endParaRPr lang="en-US" sz="3300" dirty="0"/>
          </a:p>
        </p:txBody>
      </p:sp>
      <p:sp>
        <p:nvSpPr>
          <p:cNvPr id="4" name="Shape 2"/>
          <p:cNvSpPr/>
          <p:nvPr/>
        </p:nvSpPr>
        <p:spPr>
          <a:xfrm>
            <a:off x="815975" y="2474119"/>
            <a:ext cx="3397250" cy="1940421"/>
          </a:xfrm>
          <a:prstGeom prst="roundRect">
            <a:avLst>
              <a:gd name="adj" fmla="val 5072"/>
            </a:avLst>
          </a:prstGeom>
          <a:solidFill>
            <a:srgbClr val="FFFFFF"/>
          </a:solidFill>
          <a:ln w="6350">
            <a:solidFill>
              <a:srgbClr val="E3E6E4"/>
            </a:solidFill>
            <a:prstDash val="solid"/>
          </a:ln>
        </p:spPr>
      </p:sp>
      <p:sp>
        <p:nvSpPr>
          <p:cNvPr id="5" name="Text 3"/>
          <p:cNvSpPr/>
          <p:nvPr/>
        </p:nvSpPr>
        <p:spPr>
          <a:xfrm>
            <a:off x="1047750" y="2705894"/>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Detectors execute</a:t>
            </a:r>
            <a:endParaRPr lang="en-US" sz="1600" dirty="0"/>
          </a:p>
        </p:txBody>
      </p:sp>
      <p:sp>
        <p:nvSpPr>
          <p:cNvPr id="6" name="Text 4"/>
          <p:cNvSpPr/>
          <p:nvPr/>
        </p:nvSpPr>
        <p:spPr>
          <a:xfrm>
            <a:off x="1047750" y="3025874"/>
            <a:ext cx="3021711" cy="1182291"/>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5627A"/>
                </a:solidFill>
                <a:latin typeface="IBM Plex Sans" pitchFamily="34" charset="0"/>
                <a:ea typeface="IBM Plex Sans" pitchFamily="34" charset="-122"/>
                <a:cs typeface="IBM Plex Sans" pitchFamily="34" charset="-120"/>
              </a:rPr>
              <a:t>They run against real claims and write findings plus run telemetry — "has this rule ever caught anything?" is now a data question. Before: the last mile was simulated.</a:t>
            </a:r>
            <a:endParaRPr lang="en-US" sz="1350" dirty="0"/>
          </a:p>
        </p:txBody>
      </p:sp>
      <p:sp>
        <p:nvSpPr>
          <p:cNvPr id="7" name="Shape 5"/>
          <p:cNvSpPr/>
          <p:nvPr/>
        </p:nvSpPr>
        <p:spPr>
          <a:xfrm>
            <a:off x="4397375" y="2474119"/>
            <a:ext cx="3397250" cy="1940421"/>
          </a:xfrm>
          <a:prstGeom prst="roundRect">
            <a:avLst>
              <a:gd name="adj" fmla="val 5072"/>
            </a:avLst>
          </a:prstGeom>
          <a:solidFill>
            <a:srgbClr val="FFFFFF"/>
          </a:solidFill>
          <a:ln w="6350">
            <a:solidFill>
              <a:srgbClr val="E3E6E4"/>
            </a:solidFill>
            <a:prstDash val="solid"/>
          </a:ln>
        </p:spPr>
      </p:sp>
      <p:sp>
        <p:nvSpPr>
          <p:cNvPr id="8" name="Text 6"/>
          <p:cNvSpPr/>
          <p:nvPr/>
        </p:nvSpPr>
        <p:spPr>
          <a:xfrm>
            <a:off x="4629150" y="2705894"/>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Gap weighted by dollars</a:t>
            </a:r>
            <a:endParaRPr lang="en-US" sz="1600" dirty="0"/>
          </a:p>
        </p:txBody>
      </p:sp>
      <p:sp>
        <p:nvSpPr>
          <p:cNvPr id="9" name="Text 7"/>
          <p:cNvSpPr/>
          <p:nvPr/>
        </p:nvSpPr>
        <p:spPr>
          <a:xfrm>
            <a:off x="4629150" y="3025874"/>
            <a:ext cx="3021711" cy="719534"/>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5627A"/>
                </a:solidFill>
                <a:latin typeface="IBM Plex Sans" pitchFamily="34" charset="0"/>
                <a:ea typeface="IBM Plex Sans" pitchFamily="34" charset="-122"/>
                <a:cs typeface="IBM Plex Sans" pitchFamily="34" charset="-120"/>
              </a:rPr>
              <a:t>"No rule + $8M paid" is a finding; "no rule + $0" is noise. Before: a circular label with no exposure behind it.</a:t>
            </a:r>
            <a:endParaRPr lang="en-US" sz="1350" dirty="0"/>
          </a:p>
        </p:txBody>
      </p:sp>
      <p:sp>
        <p:nvSpPr>
          <p:cNvPr id="10" name="Shape 8"/>
          <p:cNvSpPr/>
          <p:nvPr/>
        </p:nvSpPr>
        <p:spPr>
          <a:xfrm>
            <a:off x="7978775" y="2474119"/>
            <a:ext cx="3397250" cy="1940421"/>
          </a:xfrm>
          <a:prstGeom prst="roundRect">
            <a:avLst>
              <a:gd name="adj" fmla="val 5072"/>
            </a:avLst>
          </a:prstGeom>
          <a:solidFill>
            <a:srgbClr val="FFFFFF"/>
          </a:solidFill>
          <a:ln w="6350">
            <a:solidFill>
              <a:srgbClr val="E3E6E4"/>
            </a:solidFill>
            <a:prstDash val="solid"/>
          </a:ln>
        </p:spPr>
      </p:sp>
      <p:sp>
        <p:nvSpPr>
          <p:cNvPr id="11" name="Text 9"/>
          <p:cNvSpPr/>
          <p:nvPr/>
        </p:nvSpPr>
        <p:spPr>
          <a:xfrm>
            <a:off x="8210550" y="2705894"/>
            <a:ext cx="30217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73D"/>
                </a:solidFill>
                <a:latin typeface="IBM Plex Sans" pitchFamily="34" charset="0"/>
                <a:ea typeface="IBM Plex Sans" pitchFamily="34" charset="-122"/>
                <a:cs typeface="IBM Plex Sans" pitchFamily="34" charset="-120"/>
              </a:rPr>
              <a:t>Repeatable build</a:t>
            </a:r>
            <a:endParaRPr lang="en-US" sz="1600" dirty="0"/>
          </a:p>
        </p:txBody>
      </p:sp>
      <p:sp>
        <p:nvSpPr>
          <p:cNvPr id="12" name="Text 10"/>
          <p:cNvSpPr/>
          <p:nvPr/>
        </p:nvSpPr>
        <p:spPr>
          <a:xfrm>
            <a:off x="8210550" y="3025874"/>
            <a:ext cx="3021711" cy="719534"/>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55627A"/>
                </a:solidFill>
                <a:latin typeface="IBM Plex Sans" pitchFamily="34" charset="0"/>
                <a:ea typeface="IBM Plex Sans" pitchFamily="34" charset="-122"/>
                <a:cs typeface="IBM Plex Sans" pitchFamily="34" charset="-120"/>
              </a:rPr>
              <a:t>Re-running produces the same tables. Before: re-running double-counted and the totals drifted between runs.</a:t>
            </a:r>
            <a:endParaRPr lang="en-US" sz="1350" dirty="0"/>
          </a:p>
        </p:txBody>
      </p:sp>
      <p:sp>
        <p:nvSpPr>
          <p:cNvPr id="13" name="Shape 11"/>
          <p:cNvSpPr/>
          <p:nvPr/>
        </p:nvSpPr>
        <p:spPr>
          <a:xfrm>
            <a:off x="831850" y="5278239"/>
            <a:ext cx="0" cy="627261"/>
          </a:xfrm>
          <a:prstGeom prst="line">
            <a:avLst/>
          </a:prstGeom>
          <a:noFill/>
          <a:ln w="38100">
            <a:solidFill>
              <a:srgbClr val="1F7A6B"/>
            </a:solidFill>
            <a:prstDash val="solid"/>
          </a:ln>
        </p:spPr>
      </p:sp>
      <p:sp>
        <p:nvSpPr>
          <p:cNvPr id="14" name="Text 12"/>
          <p:cNvSpPr/>
          <p:nvPr/>
        </p:nvSpPr>
        <p:spPr>
          <a:xfrm>
            <a:off x="1054100" y="5316339"/>
            <a:ext cx="10634853" cy="576461"/>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14273D"/>
                </a:solidFill>
                <a:latin typeface="IBM Plex Sans" pitchFamily="34" charset="0"/>
                <a:ea typeface="IBM Plex Sans" pitchFamily="34" charset="-122"/>
                <a:cs typeface="IBM Plex Sans" pitchFamily="34" charset="-120"/>
              </a:rPr>
              <a:t>Why it matters:</a:t>
            </a:r>
            <a:r>
              <a:rPr lang="en-US" sz="1550" dirty="0">
                <a:solidFill>
                  <a:srgbClr val="14273D"/>
                </a:solidFill>
                <a:latin typeface="IBM Plex Sans" pitchFamily="34" charset="0"/>
                <a:ea typeface="IBM Plex Sans" pitchFamily="34" charset="-122"/>
                <a:cs typeface="IBM Plex Sans" pitchFamily="34" charset="-120"/>
              </a:rPr>
              <a:t> a detector that never runs proves nothing, and a "gap" with no dollars attached isn't a finding. Now both have evidence behind them.</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PROVEN · 08 — FOUNDATIONS</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Foundational work: modular, and built to last</a:t>
            </a:r>
            <a:endParaRPr lang="en-US" sz="3300" dirty="0"/>
          </a:p>
        </p:txBody>
      </p:sp>
      <p:sp>
        <p:nvSpPr>
          <p:cNvPr id="4" name="Shape 2"/>
          <p:cNvSpPr/>
          <p:nvPr/>
        </p:nvSpPr>
        <p:spPr>
          <a:xfrm>
            <a:off x="815975" y="1905794"/>
            <a:ext cx="5149850" cy="3076972"/>
          </a:xfrm>
          <a:prstGeom prst="roundRect">
            <a:avLst>
              <a:gd name="adj" fmla="val 3199"/>
            </a:avLst>
          </a:prstGeom>
          <a:solidFill>
            <a:srgbClr val="FFFFFF"/>
          </a:solidFill>
          <a:ln w="6350">
            <a:solidFill>
              <a:srgbClr val="E3E6E4"/>
            </a:solidFill>
            <a:prstDash val="solid"/>
          </a:ln>
        </p:spPr>
      </p:sp>
      <p:sp>
        <p:nvSpPr>
          <p:cNvPr id="5" name="Text 3"/>
          <p:cNvSpPr/>
          <p:nvPr/>
        </p:nvSpPr>
        <p:spPr>
          <a:xfrm>
            <a:off x="1098550" y="2188369"/>
            <a:ext cx="472224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7A6B"/>
                </a:solidFill>
                <a:latin typeface="IBM Plex Sans" pitchFamily="34" charset="0"/>
                <a:ea typeface="IBM Plex Sans" pitchFamily="34" charset="-122"/>
                <a:cs typeface="IBM Plex Sans" pitchFamily="34" charset="-120"/>
              </a:rPr>
              <a:t>Modular &amp; easy to change</a:t>
            </a:r>
            <a:endParaRPr lang="en-US" sz="1800" dirty="0"/>
          </a:p>
        </p:txBody>
      </p:sp>
      <p:sp>
        <p:nvSpPr>
          <p:cNvPr id="6" name="Text 4"/>
          <p:cNvSpPr/>
          <p:nvPr/>
        </p:nvSpPr>
        <p:spPr>
          <a:xfrm>
            <a:off x="1314450" y="2564209"/>
            <a:ext cx="4499864" cy="2161381"/>
          </a:xfrm>
          <a:prstGeom prst="rect">
            <a:avLst/>
          </a:prstGeom>
          <a:noFill/>
          <a:ln/>
        </p:spPr>
        <p:txBody>
          <a:bodyPr wrap="square" lIns="0" tIns="0" rIns="0" bIns="0" rtlCol="0" anchor="t">
            <a:normAutofit/>
          </a:bodyPr>
          <a:lstStyle/>
          <a:p>
            <a:pPr algn="l" marL="342900" indent="-342900">
              <a:lnSpc>
                <a:spcPts val="2103"/>
              </a:lnSpc>
              <a:buSzPct val="100000"/>
              <a:buChar char="•"/>
            </a:pPr>
            <a:r>
              <a:rPr lang="en-US" sz="1450" dirty="0">
                <a:solidFill>
                  <a:srgbClr val="55627A"/>
                </a:solidFill>
                <a:latin typeface="IBM Plex Sans" pitchFamily="34" charset="0"/>
                <a:ea typeface="IBM Plex Sans" pitchFamily="34" charset="-122"/>
                <a:cs typeface="IBM Plex Sans" pitchFamily="34" charset="-120"/>
              </a:rPr>
              <a:t>One tangled PoC script → focused modules with single jobs.</a:t>
            </a:r>
            <a:endParaRPr lang="en-US" sz="1450" dirty="0"/>
          </a:p>
          <a:p>
            <a:pPr algn="l" marL="342900" indent="-342900">
              <a:lnSpc>
                <a:spcPts val="2103"/>
              </a:lnSpc>
              <a:buSzPct val="100000"/>
              <a:buChar char="•"/>
            </a:pPr>
            <a:r>
              <a:rPr lang="en-US" sz="1450" dirty="0">
                <a:solidFill>
                  <a:srgbClr val="55627A"/>
                </a:solidFill>
                <a:latin typeface="IBM Plex Sans" pitchFamily="34" charset="0"/>
                <a:ea typeface="IBM Plex Sans" pitchFamily="34" charset="-122"/>
                <a:cs typeface="IBM Plex Sans" pitchFamily="34" charset="-120"/>
              </a:rPr>
              <a:t>Every table name, column, and routing rule lives in </a:t>
            </a:r>
            <a:r>
              <a:rPr lang="en-US" sz="1450" b="1" dirty="0">
                <a:solidFill>
                  <a:srgbClr val="55627A"/>
                </a:solidFill>
                <a:latin typeface="IBM Plex Sans" pitchFamily="34" charset="0"/>
                <a:ea typeface="IBM Plex Sans" pitchFamily="34" charset="-122"/>
                <a:cs typeface="IBM Plex Sans" pitchFamily="34" charset="-120"/>
              </a:rPr>
              <a:t>one config</a:t>
            </a:r>
            <a:r>
              <a:rPr lang="en-US" sz="1450" dirty="0">
                <a:solidFill>
                  <a:srgbClr val="55627A"/>
                </a:solidFill>
                <a:latin typeface="IBM Plex Sans" pitchFamily="34" charset="0"/>
                <a:ea typeface="IBM Plex Sans" pitchFamily="34" charset="-122"/>
                <a:cs typeface="IBM Plex Sans" pitchFamily="34" charset="-120"/>
              </a:rPr>
              <a:t>.</a:t>
            </a:r>
            <a:endParaRPr lang="en-US" sz="1450" dirty="0"/>
          </a:p>
          <a:p>
            <a:pPr algn="l" marL="342900" indent="-342900">
              <a:lnSpc>
                <a:spcPts val="2103"/>
              </a:lnSpc>
              <a:buSzPct val="100000"/>
              <a:buChar char="•"/>
            </a:pPr>
            <a:r>
              <a:rPr lang="en-US" sz="1450" dirty="0">
                <a:solidFill>
                  <a:srgbClr val="55627A"/>
                </a:solidFill>
                <a:latin typeface="IBM Plex Sans" pitchFamily="34" charset="0"/>
                <a:ea typeface="IBM Plex Sans" pitchFamily="34" charset="-122"/>
                <a:cs typeface="IBM Plex Sans" pitchFamily="34" charset="-120"/>
              </a:rPr>
              <a:t>The rule schema and predicate grammar are defined once; everything reads from them.</a:t>
            </a:r>
            <a:endParaRPr lang="en-US" sz="1450" dirty="0"/>
          </a:p>
          <a:p>
            <a:pPr algn="l" marL="342900" indent="-342900">
              <a:lnSpc>
                <a:spcPts val="2103"/>
              </a:lnSpc>
              <a:buSzPct val="100000"/>
              <a:buChar char="•"/>
            </a:pPr>
            <a:r>
              <a:rPr lang="en-US" sz="1450" dirty="0">
                <a:solidFill>
                  <a:srgbClr val="55627A"/>
                </a:solidFill>
                <a:latin typeface="IBM Plex Sans" pitchFamily="34" charset="0"/>
                <a:ea typeface="IBM Plex Sans" pitchFamily="34" charset="-122"/>
                <a:cs typeface="IBM Plex Sans" pitchFamily="34" charset="-120"/>
              </a:rPr>
              <a:t>Pluggable LLM backend — swap the model without touching the pipeline.</a:t>
            </a:r>
            <a:endParaRPr lang="en-US" sz="1450" dirty="0"/>
          </a:p>
        </p:txBody>
      </p:sp>
      <p:sp>
        <p:nvSpPr>
          <p:cNvPr id="7" name="Shape 5"/>
          <p:cNvSpPr/>
          <p:nvPr/>
        </p:nvSpPr>
        <p:spPr>
          <a:xfrm>
            <a:off x="6226175" y="1905794"/>
            <a:ext cx="5149850" cy="3076972"/>
          </a:xfrm>
          <a:prstGeom prst="roundRect">
            <a:avLst>
              <a:gd name="adj" fmla="val 3199"/>
            </a:avLst>
          </a:prstGeom>
          <a:solidFill>
            <a:srgbClr val="FFFFFF"/>
          </a:solidFill>
          <a:ln w="6350">
            <a:solidFill>
              <a:srgbClr val="E3E6E4"/>
            </a:solidFill>
            <a:prstDash val="solid"/>
          </a:ln>
        </p:spPr>
      </p:sp>
      <p:sp>
        <p:nvSpPr>
          <p:cNvPr id="8" name="Text 6"/>
          <p:cNvSpPr/>
          <p:nvPr/>
        </p:nvSpPr>
        <p:spPr>
          <a:xfrm>
            <a:off x="6508750" y="2188369"/>
            <a:ext cx="472224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7A6B"/>
                </a:solidFill>
                <a:latin typeface="IBM Plex Sans" pitchFamily="34" charset="0"/>
                <a:ea typeface="IBM Plex Sans" pitchFamily="34" charset="-122"/>
                <a:cs typeface="IBM Plex Sans" pitchFamily="34" charset="-120"/>
              </a:rPr>
              <a:t>Proven &amp; safe to extend</a:t>
            </a:r>
            <a:endParaRPr lang="en-US" sz="1800" dirty="0"/>
          </a:p>
        </p:txBody>
      </p:sp>
      <p:sp>
        <p:nvSpPr>
          <p:cNvPr id="9" name="Text 7"/>
          <p:cNvSpPr/>
          <p:nvPr/>
        </p:nvSpPr>
        <p:spPr>
          <a:xfrm>
            <a:off x="6724650" y="2564209"/>
            <a:ext cx="4499864" cy="1894384"/>
          </a:xfrm>
          <a:prstGeom prst="rect">
            <a:avLst/>
          </a:prstGeom>
          <a:noFill/>
          <a:ln/>
        </p:spPr>
        <p:txBody>
          <a:bodyPr wrap="square" lIns="0" tIns="0" rIns="0" bIns="0" rtlCol="0" anchor="t">
            <a:normAutofit/>
          </a:bodyPr>
          <a:lstStyle/>
          <a:p>
            <a:pPr algn="l" marL="342900" indent="-342900">
              <a:lnSpc>
                <a:spcPts val="2103"/>
              </a:lnSpc>
              <a:buSzPct val="100000"/>
              <a:buChar char="•"/>
            </a:pPr>
            <a:r>
              <a:rPr lang="en-US" sz="1450" dirty="0">
                <a:solidFill>
                  <a:srgbClr val="55627A"/>
                </a:solidFill>
                <a:latin typeface="IBM Plex Sans" pitchFamily="34" charset="0"/>
                <a:ea typeface="IBM Plex Sans" pitchFamily="34" charset="-122"/>
                <a:cs typeface="IBM Plex Sans" pitchFamily="34" charset="-120"/>
              </a:rPr>
              <a:t>25 automated tests covering the pipeline end to end.</a:t>
            </a:r>
            <a:endParaRPr lang="en-US" sz="1450" dirty="0"/>
          </a:p>
          <a:p>
            <a:pPr algn="l" marL="342900" indent="-342900">
              <a:lnSpc>
                <a:spcPts val="2103"/>
              </a:lnSpc>
              <a:buSzPct val="100000"/>
              <a:buChar char="•"/>
            </a:pPr>
            <a:r>
              <a:rPr lang="en-US" sz="1450" dirty="0">
                <a:solidFill>
                  <a:srgbClr val="55627A"/>
                </a:solidFill>
                <a:latin typeface="IBM Plex Sans" pitchFamily="34" charset="0"/>
                <a:ea typeface="IBM Plex Sans" pitchFamily="34" charset="-122"/>
                <a:cs typeface="IBM Plex Sans" pitchFamily="34" charset="-120"/>
              </a:rPr>
              <a:t>Parser validated against the real manual layout; checked against the real claims and NCCI formats.</a:t>
            </a:r>
            <a:endParaRPr lang="en-US" sz="1450" dirty="0"/>
          </a:p>
          <a:p>
            <a:pPr algn="l" marL="342900" indent="-342900">
              <a:lnSpc>
                <a:spcPts val="2103"/>
              </a:lnSpc>
              <a:buSzPct val="100000"/>
              <a:buChar char="•"/>
            </a:pPr>
            <a:r>
              <a:rPr lang="en-US" sz="1450" dirty="0">
                <a:solidFill>
                  <a:srgbClr val="55627A"/>
                </a:solidFill>
                <a:latin typeface="IBM Plex Sans" pitchFamily="34" charset="0"/>
                <a:ea typeface="IBM Plex Sans" pitchFamily="34" charset="-122"/>
                <a:cs typeface="IBM Plex Sans" pitchFamily="34" charset="-120"/>
              </a:rPr>
              <a:t>The build fails loud and early instead of silently producing empty output.</a:t>
            </a:r>
            <a:endParaRPr lang="en-US" sz="1450" dirty="0"/>
          </a:p>
        </p:txBody>
      </p:sp>
      <p:sp>
        <p:nvSpPr>
          <p:cNvPr id="10" name="Shape 8"/>
          <p:cNvSpPr/>
          <p:nvPr/>
        </p:nvSpPr>
        <p:spPr>
          <a:xfrm>
            <a:off x="831850" y="5278239"/>
            <a:ext cx="0" cy="627261"/>
          </a:xfrm>
          <a:prstGeom prst="line">
            <a:avLst/>
          </a:prstGeom>
          <a:noFill/>
          <a:ln w="38100">
            <a:solidFill>
              <a:srgbClr val="1F7A6B"/>
            </a:solidFill>
            <a:prstDash val="solid"/>
          </a:ln>
        </p:spPr>
      </p:sp>
      <p:sp>
        <p:nvSpPr>
          <p:cNvPr id="11" name="Text 9"/>
          <p:cNvSpPr/>
          <p:nvPr/>
        </p:nvSpPr>
        <p:spPr>
          <a:xfrm>
            <a:off x="1054100" y="5316339"/>
            <a:ext cx="10634853" cy="576461"/>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14273D"/>
                </a:solidFill>
                <a:latin typeface="IBM Plex Sans" pitchFamily="34" charset="0"/>
                <a:ea typeface="IBM Plex Sans" pitchFamily="34" charset="-122"/>
                <a:cs typeface="IBM Plex Sans" pitchFamily="34" charset="-120"/>
              </a:rPr>
              <a:t>Why it matters:</a:t>
            </a:r>
            <a:r>
              <a:rPr lang="en-US" sz="1550" dirty="0">
                <a:solidFill>
                  <a:srgbClr val="14273D"/>
                </a:solidFill>
                <a:latin typeface="IBM Plex Sans" pitchFamily="34" charset="0"/>
                <a:ea typeface="IBM Plex Sans" pitchFamily="34" charset="-122"/>
                <a:cs typeface="IBM Plex Sans" pitchFamily="34" charset="-120"/>
              </a:rPr>
              <a:t> adding a chapter, a rule type, or a new model is now a localized change, not a rewrite. This is what makes the </a:t>
            </a:r>
            <a:r>
              <a:rPr lang="en-US" sz="1550" i="1" dirty="0">
                <a:solidFill>
                  <a:srgbClr val="14273D"/>
                </a:solidFill>
                <a:latin typeface="IBM Plex Sans" pitchFamily="34" charset="0"/>
                <a:ea typeface="IBM Plex Sans" pitchFamily="34" charset="-122"/>
                <a:cs typeface="IBM Plex Sans" pitchFamily="34" charset="-120"/>
              </a:rPr>
              <a:t>next</a:t>
            </a:r>
            <a:r>
              <a:rPr lang="en-US" sz="1550" dirty="0">
                <a:solidFill>
                  <a:srgbClr val="14273D"/>
                </a:solidFill>
                <a:latin typeface="IBM Plex Sans" pitchFamily="34" charset="0"/>
                <a:ea typeface="IBM Plex Sans" pitchFamily="34" charset="-122"/>
                <a:cs typeface="IBM Plex Sans" pitchFamily="34" charset="-120"/>
              </a:rPr>
              <a:t> month cheaper than this one.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4"/>
        </a:solidFill>
      </p:bgPr>
    </p:bg>
    <p:spTree>
      <p:nvGrpSpPr>
        <p:cNvPr id="1" name=""/>
        <p:cNvGrpSpPr/>
        <p:nvPr/>
      </p:nvGrpSpPr>
      <p:grpSpPr>
        <a:xfrm>
          <a:off x="0" y="0"/>
          <a:ext cx="0" cy="0"/>
          <a:chOff x="0" y="0"/>
          <a:chExt cx="0" cy="0"/>
        </a:xfrm>
      </p:grpSpPr>
      <p:sp>
        <p:nvSpPr>
          <p:cNvPr id="2" name="Text 0"/>
          <p:cNvSpPr/>
          <p:nvPr/>
        </p:nvSpPr>
        <p:spPr>
          <a:xfrm>
            <a:off x="812800" y="812800"/>
            <a:ext cx="10883392" cy="247650"/>
          </a:xfrm>
          <a:prstGeom prst="rect">
            <a:avLst/>
          </a:prstGeom>
          <a:noFill/>
          <a:ln/>
        </p:spPr>
        <p:txBody>
          <a:bodyPr wrap="square" lIns="0" tIns="0" rIns="0" bIns="0" rtlCol="0" anchor="t">
            <a:normAutofit/>
          </a:bodyPr>
          <a:lstStyle/>
          <a:p>
            <a:pPr algn="l" indent="0" marL="0">
              <a:lnSpc>
                <a:spcPts val="1750"/>
              </a:lnSpc>
              <a:buNone/>
            </a:pPr>
            <a:r>
              <a:rPr lang="en-US" sz="1250" spc="100" kern="0" dirty="0">
                <a:solidFill>
                  <a:srgbClr val="1F7A6B"/>
                </a:solidFill>
                <a:latin typeface="JetBrains Mono" pitchFamily="34" charset="0"/>
                <a:ea typeface="JetBrains Mono" pitchFamily="34" charset="-122"/>
                <a:cs typeface="JetBrains Mono" pitchFamily="34" charset="-120"/>
              </a:rPr>
              <a:t>HONEST SCOPE — BEFORE ANYONE ASKS</a:t>
            </a:r>
            <a:endParaRPr lang="en-US" sz="1250" dirty="0"/>
          </a:p>
        </p:txBody>
      </p:sp>
      <p:sp>
        <p:nvSpPr>
          <p:cNvPr id="3" name="Text 1"/>
          <p:cNvSpPr/>
          <p:nvPr/>
        </p:nvSpPr>
        <p:spPr>
          <a:xfrm>
            <a:off x="812800" y="1149350"/>
            <a:ext cx="10883392" cy="486370"/>
          </a:xfrm>
          <a:prstGeom prst="rect">
            <a:avLst/>
          </a:prstGeom>
          <a:noFill/>
          <a:ln/>
        </p:spPr>
        <p:txBody>
          <a:bodyPr wrap="square" lIns="0" tIns="0" rIns="0" bIns="0" rtlCol="0" anchor="t">
            <a:normAutofit/>
          </a:bodyPr>
          <a:lstStyle/>
          <a:p>
            <a:pPr algn="l" indent="0" marL="0">
              <a:lnSpc>
                <a:spcPts val="3630"/>
              </a:lnSpc>
              <a:buNone/>
            </a:pPr>
            <a:r>
              <a:rPr lang="en-US" sz="3300" b="1" dirty="0">
                <a:solidFill>
                  <a:srgbClr val="14273D"/>
                </a:solidFill>
                <a:latin typeface="IBM Plex Sans" pitchFamily="34" charset="0"/>
                <a:ea typeface="IBM Plex Sans" pitchFamily="34" charset="-122"/>
                <a:cs typeface="IBM Plex Sans" pitchFamily="34" charset="-120"/>
              </a:rPr>
              <a:t>What's built, and what's next</a:t>
            </a:r>
            <a:endParaRPr lang="en-US" sz="3300" dirty="0"/>
          </a:p>
        </p:txBody>
      </p:sp>
      <p:sp>
        <p:nvSpPr>
          <p:cNvPr id="4" name="Shape 2"/>
          <p:cNvSpPr/>
          <p:nvPr/>
        </p:nvSpPr>
        <p:spPr>
          <a:xfrm>
            <a:off x="815975" y="1895475"/>
            <a:ext cx="10560050" cy="901700"/>
          </a:xfrm>
          <a:prstGeom prst="roundRect">
            <a:avLst>
              <a:gd name="adj" fmla="val 9507"/>
            </a:avLst>
          </a:prstGeom>
          <a:solidFill>
            <a:srgbClr val="FFFFFF"/>
          </a:solidFill>
          <a:ln w="6350">
            <a:solidFill>
              <a:srgbClr val="E3E6E4"/>
            </a:solidFill>
            <a:prstDash val="solid"/>
          </a:ln>
        </p:spPr>
      </p:sp>
      <p:sp>
        <p:nvSpPr>
          <p:cNvPr id="5" name="Text 3"/>
          <p:cNvSpPr/>
          <p:nvPr/>
        </p:nvSpPr>
        <p:spPr>
          <a:xfrm>
            <a:off x="1073150" y="2114550"/>
            <a:ext cx="183134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7A6B"/>
                </a:solidFill>
                <a:latin typeface="JetBrains Mono" pitchFamily="34" charset="0"/>
                <a:ea typeface="JetBrains Mono" pitchFamily="34" charset="-122"/>
                <a:cs typeface="JetBrains Mono" pitchFamily="34" charset="-120"/>
              </a:rPr>
              <a:t>Built &amp; tested</a:t>
            </a:r>
            <a:endParaRPr lang="en-US" sz="1300" dirty="0"/>
          </a:p>
        </p:txBody>
      </p:sp>
      <p:sp>
        <p:nvSpPr>
          <p:cNvPr id="6" name="Text 4"/>
          <p:cNvSpPr/>
          <p:nvPr/>
        </p:nvSpPr>
        <p:spPr>
          <a:xfrm>
            <a:off x="3028950" y="2089150"/>
            <a:ext cx="833259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73D"/>
                </a:solidFill>
                <a:latin typeface="IBM Plex Sans" pitchFamily="34" charset="0"/>
                <a:ea typeface="IBM Plex Sans" pitchFamily="34" charset="-122"/>
                <a:cs typeface="IBM Plex Sans" pitchFamily="34" charset="-120"/>
              </a:rPr>
              <a:t>The whole pipeline end to end, proven offline with a deterministic no-model extractor so every stage is testable.</a:t>
            </a:r>
            <a:endParaRPr lang="en-US" sz="1500" dirty="0"/>
          </a:p>
        </p:txBody>
      </p:sp>
      <p:sp>
        <p:nvSpPr>
          <p:cNvPr id="7" name="Shape 5"/>
          <p:cNvSpPr/>
          <p:nvPr/>
        </p:nvSpPr>
        <p:spPr>
          <a:xfrm>
            <a:off x="815975" y="2930525"/>
            <a:ext cx="10560050" cy="901700"/>
          </a:xfrm>
          <a:prstGeom prst="roundRect">
            <a:avLst>
              <a:gd name="adj" fmla="val 9507"/>
            </a:avLst>
          </a:prstGeom>
          <a:solidFill>
            <a:srgbClr val="FFFFFF"/>
          </a:solidFill>
          <a:ln w="6350">
            <a:solidFill>
              <a:srgbClr val="E3E6E4"/>
            </a:solidFill>
            <a:prstDash val="solid"/>
          </a:ln>
        </p:spPr>
      </p:sp>
      <p:sp>
        <p:nvSpPr>
          <p:cNvPr id="8" name="Text 6"/>
          <p:cNvSpPr/>
          <p:nvPr/>
        </p:nvSpPr>
        <p:spPr>
          <a:xfrm>
            <a:off x="1073150" y="3149600"/>
            <a:ext cx="183134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7A6B"/>
                </a:solidFill>
                <a:latin typeface="JetBrains Mono" pitchFamily="34" charset="0"/>
                <a:ea typeface="JetBrains Mono" pitchFamily="34" charset="-122"/>
                <a:cs typeface="JetBrains Mono" pitchFamily="34" charset="-120"/>
              </a:rPr>
              <a:t>Ready to switch on</a:t>
            </a:r>
            <a:endParaRPr lang="en-US" sz="1300" dirty="0"/>
          </a:p>
        </p:txBody>
      </p:sp>
      <p:sp>
        <p:nvSpPr>
          <p:cNvPr id="9" name="Text 7"/>
          <p:cNvSpPr/>
          <p:nvPr/>
        </p:nvSpPr>
        <p:spPr>
          <a:xfrm>
            <a:off x="3028950" y="3124200"/>
            <a:ext cx="833259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73D"/>
                </a:solidFill>
                <a:latin typeface="IBM Plex Sans" pitchFamily="34" charset="0"/>
                <a:ea typeface="IBM Plex Sans" pitchFamily="34" charset="-122"/>
                <a:cs typeface="IBM Plex Sans" pitchFamily="34" charset="-120"/>
              </a:rPr>
              <a:t>The LLM extraction backend is wired to the workspace model; it needs its first production run and human review of the drafts.</a:t>
            </a:r>
            <a:endParaRPr lang="en-US" sz="1500" dirty="0"/>
          </a:p>
        </p:txBody>
      </p:sp>
      <p:sp>
        <p:nvSpPr>
          <p:cNvPr id="10" name="Shape 8"/>
          <p:cNvSpPr/>
          <p:nvPr/>
        </p:nvSpPr>
        <p:spPr>
          <a:xfrm>
            <a:off x="815975" y="3965575"/>
            <a:ext cx="10560050" cy="901700"/>
          </a:xfrm>
          <a:prstGeom prst="roundRect">
            <a:avLst>
              <a:gd name="adj" fmla="val 9507"/>
            </a:avLst>
          </a:prstGeom>
          <a:solidFill>
            <a:srgbClr val="FFFFFF"/>
          </a:solidFill>
          <a:ln w="6350">
            <a:solidFill>
              <a:srgbClr val="E3E6E4"/>
            </a:solidFill>
            <a:prstDash val="solid"/>
          </a:ln>
        </p:spPr>
      </p:sp>
      <p:sp>
        <p:nvSpPr>
          <p:cNvPr id="11" name="Text 9"/>
          <p:cNvSpPr/>
          <p:nvPr/>
        </p:nvSpPr>
        <p:spPr>
          <a:xfrm>
            <a:off x="1073150" y="4184650"/>
            <a:ext cx="183134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4552E"/>
                </a:solidFill>
                <a:latin typeface="JetBrains Mono" pitchFamily="34" charset="0"/>
                <a:ea typeface="JetBrains Mono" pitchFamily="34" charset="-122"/>
                <a:cs typeface="JetBrains Mono" pitchFamily="34" charset="-120"/>
              </a:rPr>
              <a:t>Still manual</a:t>
            </a:r>
            <a:endParaRPr lang="en-US" sz="1300" dirty="0"/>
          </a:p>
        </p:txBody>
      </p:sp>
      <p:sp>
        <p:nvSpPr>
          <p:cNvPr id="12" name="Text 10"/>
          <p:cNvSpPr/>
          <p:nvPr/>
        </p:nvSpPr>
        <p:spPr>
          <a:xfrm>
            <a:off x="3028950" y="4159250"/>
            <a:ext cx="833259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73D"/>
                </a:solidFill>
                <a:latin typeface="IBM Plex Sans" pitchFamily="34" charset="0"/>
                <a:ea typeface="IBM Plex Sans" pitchFamily="34" charset="-122"/>
                <a:cs typeface="IBM Plex Sans" pitchFamily="34" charset="-120"/>
              </a:rPr>
              <a:t>~19 showcase state rules are hand-authored and cited; full-chapter extraction is the next milestone, not a claim we're making today.</a:t>
            </a:r>
            <a:endParaRPr lang="en-US" sz="1500" dirty="0"/>
          </a:p>
        </p:txBody>
      </p:sp>
      <p:sp>
        <p:nvSpPr>
          <p:cNvPr id="13" name="Shape 11"/>
          <p:cNvSpPr/>
          <p:nvPr/>
        </p:nvSpPr>
        <p:spPr>
          <a:xfrm>
            <a:off x="815975" y="5000625"/>
            <a:ext cx="10560050" cy="901700"/>
          </a:xfrm>
          <a:prstGeom prst="roundRect">
            <a:avLst>
              <a:gd name="adj" fmla="val 9507"/>
            </a:avLst>
          </a:prstGeom>
          <a:solidFill>
            <a:srgbClr val="FFFFFF"/>
          </a:solidFill>
          <a:ln w="6350">
            <a:solidFill>
              <a:srgbClr val="E3E6E4"/>
            </a:solidFill>
            <a:prstDash val="solid"/>
          </a:ln>
        </p:spPr>
      </p:sp>
      <p:sp>
        <p:nvSpPr>
          <p:cNvPr id="14" name="Text 12"/>
          <p:cNvSpPr/>
          <p:nvPr/>
        </p:nvSpPr>
        <p:spPr>
          <a:xfrm>
            <a:off x="1073150" y="5219700"/>
            <a:ext cx="183134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627A"/>
                </a:solidFill>
                <a:latin typeface="JetBrains Mono" pitchFamily="34" charset="0"/>
                <a:ea typeface="JetBrains Mono" pitchFamily="34" charset="-122"/>
                <a:cs typeface="JetBrains Mono" pitchFamily="34" charset="-120"/>
              </a:rPr>
              <a:t>Open question</a:t>
            </a:r>
            <a:endParaRPr lang="en-US" sz="1300" dirty="0"/>
          </a:p>
        </p:txBody>
      </p:sp>
      <p:sp>
        <p:nvSpPr>
          <p:cNvPr id="15" name="Text 13"/>
          <p:cNvSpPr/>
          <p:nvPr/>
        </p:nvSpPr>
        <p:spPr>
          <a:xfrm>
            <a:off x="3028950" y="5194300"/>
            <a:ext cx="833259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4273D"/>
                </a:solidFill>
                <a:latin typeface="IBM Plex Sans" pitchFamily="34" charset="0"/>
                <a:ea typeface="IBM Plex Sans" pitchFamily="34" charset="-122"/>
                <a:cs typeface="IBM Plex Sans" pitchFamily="34" charset="-120"/>
              </a:rPr>
              <a:t>Whether a claim-type field exists to route NCCI editions precisely — a question for the claims team, not a bug.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C2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5FB8A6"/>
                </a:solidFill>
                <a:latin typeface="JetBrains Mono" pitchFamily="34" charset="0"/>
                <a:ea typeface="JetBrains Mono" pitchFamily="34" charset="-122"/>
                <a:cs typeface="JetBrains Mono" pitchFamily="34" charset="-120"/>
              </a:rPr>
              <a:t>WHY IT TOOK THE MONTH</a:t>
            </a:r>
            <a:endParaRPr lang="en-US" sz="1300" dirty="0"/>
          </a:p>
        </p:txBody>
      </p:sp>
      <p:sp>
        <p:nvSpPr>
          <p:cNvPr id="3" name="Text 1"/>
          <p:cNvSpPr/>
          <p:nvPr/>
        </p:nvSpPr>
        <p:spPr>
          <a:xfrm>
            <a:off x="812800" y="2271216"/>
            <a:ext cx="10595610" cy="1558925"/>
          </a:xfrm>
          <a:prstGeom prst="rect">
            <a:avLst/>
          </a:prstGeom>
          <a:noFill/>
          <a:ln/>
        </p:spPr>
        <p:txBody>
          <a:bodyPr wrap="square" lIns="0" tIns="0" rIns="0" bIns="0" rtlCol="0" anchor="t">
            <a:normAutofit/>
          </a:bodyPr>
          <a:lstStyle/>
          <a:p>
            <a:pPr algn="l" indent="0" marL="0">
              <a:lnSpc>
                <a:spcPts val="4025"/>
              </a:lnSpc>
              <a:buNone/>
            </a:pPr>
            <a:r>
              <a:rPr lang="en-US" sz="3500" b="1" dirty="0">
                <a:solidFill>
                  <a:srgbClr val="F5F6F4"/>
                </a:solidFill>
                <a:latin typeface="IBM Plex Sans" pitchFamily="34" charset="0"/>
                <a:ea typeface="IBM Plex Sans" pitchFamily="34" charset="-122"/>
                <a:cs typeface="IBM Plex Sans" pitchFamily="34" charset="-120"/>
              </a:rPr>
              <a:t>A demo you can control for five minutes and a system you can point at 17 million claims and defend to an auditor are different things.</a:t>
            </a:r>
            <a:endParaRPr lang="en-US" sz="3500" dirty="0"/>
          </a:p>
        </p:txBody>
      </p:sp>
      <p:sp>
        <p:nvSpPr>
          <p:cNvPr id="4" name="Text 2"/>
          <p:cNvSpPr/>
          <p:nvPr/>
        </p:nvSpPr>
        <p:spPr>
          <a:xfrm>
            <a:off x="812800" y="5031978"/>
            <a:ext cx="10203180" cy="1038622"/>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C4D0DE"/>
                </a:solidFill>
                <a:latin typeface="IBM Plex Sans" pitchFamily="34" charset="0"/>
                <a:ea typeface="IBM Plex Sans" pitchFamily="34" charset="-122"/>
                <a:cs typeface="IBM Plex Sans" pitchFamily="34" charset="-120"/>
              </a:rPr>
              <a:t>The month is the distance between them — </a:t>
            </a:r>
            <a:r>
              <a:rPr lang="en-US" sz="1900" b="1" dirty="0">
                <a:solidFill>
                  <a:srgbClr val="C4D0DE"/>
                </a:solidFill>
                <a:latin typeface="IBM Plex Sans" pitchFamily="34" charset="0"/>
                <a:ea typeface="IBM Plex Sans" pitchFamily="34" charset="-122"/>
                <a:cs typeface="IBM Plex Sans" pitchFamily="34" charset="-120"/>
              </a:rPr>
              <a:t>correctness</a:t>
            </a:r>
            <a:r>
              <a:rPr lang="en-US" sz="1900" dirty="0">
                <a:solidFill>
                  <a:srgbClr val="C4D0DE"/>
                </a:solidFill>
                <a:latin typeface="IBM Plex Sans" pitchFamily="34" charset="0"/>
                <a:ea typeface="IBM Plex Sans" pitchFamily="34" charset="-122"/>
                <a:cs typeface="IBM Plex Sans" pitchFamily="34" charset="-120"/>
              </a:rPr>
              <a:t> so findings are real, </a:t>
            </a:r>
            <a:r>
              <a:rPr lang="en-US" sz="1900" b="1" dirty="0">
                <a:solidFill>
                  <a:srgbClr val="C4D0DE"/>
                </a:solidFill>
                <a:latin typeface="IBM Plex Sans" pitchFamily="34" charset="0"/>
                <a:ea typeface="IBM Plex Sans" pitchFamily="34" charset="-122"/>
                <a:cs typeface="IBM Plex Sans" pitchFamily="34" charset="-120"/>
              </a:rPr>
              <a:t>governance</a:t>
            </a:r>
            <a:r>
              <a:rPr lang="en-US" sz="1900" dirty="0">
                <a:solidFill>
                  <a:srgbClr val="C4D0DE"/>
                </a:solidFill>
                <a:latin typeface="IBM Plex Sans" pitchFamily="34" charset="0"/>
                <a:ea typeface="IBM Plex Sans" pitchFamily="34" charset="-122"/>
                <a:cs typeface="IBM Plex Sans" pitchFamily="34" charset="-120"/>
              </a:rPr>
              <a:t> so a named human owns every rule, and an </a:t>
            </a:r>
            <a:r>
              <a:rPr lang="en-US" sz="1900" b="1" dirty="0">
                <a:solidFill>
                  <a:srgbClr val="C4D0DE"/>
                </a:solidFill>
                <a:latin typeface="IBM Plex Sans" pitchFamily="34" charset="0"/>
                <a:ea typeface="IBM Plex Sans" pitchFamily="34" charset="-122"/>
                <a:cs typeface="IBM Plex Sans" pitchFamily="34" charset="-120"/>
              </a:rPr>
              <a:t>extraction engine</a:t>
            </a:r>
            <a:r>
              <a:rPr lang="en-US" sz="1900" dirty="0">
                <a:solidFill>
                  <a:srgbClr val="C4D0DE"/>
                </a:solidFill>
                <a:latin typeface="IBM Plex Sans" pitchFamily="34" charset="0"/>
                <a:ea typeface="IBM Plex Sans" pitchFamily="34" charset="-122"/>
                <a:cs typeface="IBM Plex Sans" pitchFamily="34" charset="-120"/>
              </a:rPr>
              <a:t> that scales past two chapters by hand — then actually run against claims and measured.</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PIE PoC to MVP</dc:title>
  <dc:subject>PptxGenJS Presentation</dc:subject>
  <dc:creator>PptxGenJS</dc:creator>
  <cp:lastModifiedBy>PptxGenJS</cp:lastModifiedBy>
  <cp:revision>1</cp:revision>
  <dcterms:created xsi:type="dcterms:W3CDTF">2026-09-18T17:27:31Z</dcterms:created>
  <dcterms:modified xsi:type="dcterms:W3CDTF">2026-09-18T17:27:31Z</dcterms:modified>
</cp:coreProperties>
</file>